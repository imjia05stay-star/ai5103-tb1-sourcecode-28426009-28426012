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Scope One" charset="1" panose="02060403030504020204"/>
      <p:regular r:id="rId18"/>
    </p:embeddedFont>
    <p:embeddedFont>
      <p:font typeface="Fredoka" charset="1" panose="020000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11" Target="../media/image15.svg" Type="http://schemas.openxmlformats.org/officeDocument/2006/relationships/image"/><Relationship Id="rId12" Target="../media/image16.png" Type="http://schemas.openxmlformats.org/officeDocument/2006/relationships/image"/><Relationship Id="rId13" Target="https://github.com/mastqe/tsplib" TargetMode="External" Type="http://schemas.openxmlformats.org/officeDocument/2006/relationships/hyperlink"/><Relationship Id="rId2" Target="../media/image12.png" Type="http://schemas.openxmlformats.org/officeDocument/2006/relationships/image"/><Relationship Id="rId3" Target="../media/image13.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7.png" Type="http://schemas.openxmlformats.org/officeDocument/2006/relationships/image"/><Relationship Id="rId13" Target="../media/image18.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9.png" Type="http://schemas.openxmlformats.org/officeDocument/2006/relationships/image"/><Relationship Id="rId2" Target="../media/image14.png" Type="http://schemas.openxmlformats.org/officeDocument/2006/relationships/image"/><Relationship Id="rId3" Target="../media/image1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20.png" Type="http://schemas.openxmlformats.org/officeDocument/2006/relationships/image"/><Relationship Id="rId2" Target="../media/image14.png" Type="http://schemas.openxmlformats.org/officeDocument/2006/relationships/image"/><Relationship Id="rId3" Target="../media/image1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4.png" Type="http://schemas.openxmlformats.org/officeDocument/2006/relationships/image"/><Relationship Id="rId3" Target="../media/image1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21.png" Type="http://schemas.openxmlformats.org/officeDocument/2006/relationships/image"/><Relationship Id="rId2" Target="../media/image14.png" Type="http://schemas.openxmlformats.org/officeDocument/2006/relationships/image"/><Relationship Id="rId3" Target="../media/image1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22.jpeg" Type="http://schemas.openxmlformats.org/officeDocument/2006/relationships/image"/><Relationship Id="rId13" Target="../media/image23.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jpeg" Type="http://schemas.openxmlformats.org/officeDocument/2006/relationships/image"/><Relationship Id="rId2" Target="../media/image14.png" Type="http://schemas.openxmlformats.org/officeDocument/2006/relationships/image"/><Relationship Id="rId3" Target="../media/image1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jpeg" Type="http://schemas.openxmlformats.org/officeDocument/2006/relationships/image"/><Relationship Id="rId11" Target="../media/image26.jpeg" Type="http://schemas.openxmlformats.org/officeDocument/2006/relationships/image"/><Relationship Id="rId2" Target="../media/image12.png" Type="http://schemas.openxmlformats.org/officeDocument/2006/relationships/image"/><Relationship Id="rId3" Target="../media/image13.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27.jpeg" Type="http://schemas.openxmlformats.org/officeDocument/2006/relationships/image"/><Relationship Id="rId2" Target="../media/image12.png" Type="http://schemas.openxmlformats.org/officeDocument/2006/relationships/image"/><Relationship Id="rId3" Target="../media/image13.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9747073">
            <a:off x="15182142" y="6657626"/>
            <a:ext cx="4006919" cy="5323202"/>
          </a:xfrm>
          <a:custGeom>
            <a:avLst/>
            <a:gdLst/>
            <a:ahLst/>
            <a:cxnLst/>
            <a:rect r="r" b="b" t="t" l="l"/>
            <a:pathLst>
              <a:path h="5323202" w="4006919">
                <a:moveTo>
                  <a:pt x="4006920" y="0"/>
                </a:moveTo>
                <a:lnTo>
                  <a:pt x="0" y="0"/>
                </a:lnTo>
                <a:lnTo>
                  <a:pt x="0" y="5323202"/>
                </a:lnTo>
                <a:lnTo>
                  <a:pt x="4006920" y="5323202"/>
                </a:lnTo>
                <a:lnTo>
                  <a:pt x="400692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310312" y="-462567"/>
            <a:ext cx="6483934" cy="2923665"/>
          </a:xfrm>
          <a:custGeom>
            <a:avLst/>
            <a:gdLst/>
            <a:ahLst/>
            <a:cxnLst/>
            <a:rect r="r" b="b" t="t" l="l"/>
            <a:pathLst>
              <a:path h="2923665" w="6483934">
                <a:moveTo>
                  <a:pt x="6483934" y="2923664"/>
                </a:moveTo>
                <a:lnTo>
                  <a:pt x="0" y="2923664"/>
                </a:lnTo>
                <a:lnTo>
                  <a:pt x="0" y="0"/>
                </a:lnTo>
                <a:lnTo>
                  <a:pt x="6483934" y="0"/>
                </a:lnTo>
                <a:lnTo>
                  <a:pt x="6483934" y="292366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457716" y="8359929"/>
            <a:ext cx="1141968" cy="654774"/>
          </a:xfrm>
          <a:custGeom>
            <a:avLst/>
            <a:gdLst/>
            <a:ahLst/>
            <a:cxnLst/>
            <a:rect r="r" b="b" t="t" l="l"/>
            <a:pathLst>
              <a:path h="654774" w="1141968">
                <a:moveTo>
                  <a:pt x="0" y="0"/>
                </a:moveTo>
                <a:lnTo>
                  <a:pt x="1141968" y="0"/>
                </a:lnTo>
                <a:lnTo>
                  <a:pt x="1141968" y="654774"/>
                </a:lnTo>
                <a:lnTo>
                  <a:pt x="0" y="654774"/>
                </a:lnTo>
                <a:lnTo>
                  <a:pt x="0" y="0"/>
                </a:lnTo>
                <a:close/>
              </a:path>
            </a:pathLst>
          </a:custGeom>
          <a:blipFill>
            <a:blip r:embed="rId6">
              <a:extLst>
                <a:ext uri="{96DAC541-7B7A-43D3-8B79-37D633B846F1}">
                  <asvg:svgBlip xmlns:asvg="http://schemas.microsoft.com/office/drawing/2016/SVG/main" r:embed="rId7"/>
                </a:ext>
              </a:extLst>
            </a:blip>
            <a:stretch>
              <a:fillRect l="0" t="-74406" r="0" b="0"/>
            </a:stretch>
          </a:blipFill>
        </p:spPr>
      </p:sp>
      <p:sp>
        <p:nvSpPr>
          <p:cNvPr name="Freeform 5" id="5"/>
          <p:cNvSpPr/>
          <p:nvPr/>
        </p:nvSpPr>
        <p:spPr>
          <a:xfrm flipH="false" flipV="false" rot="0">
            <a:off x="16923451" y="1028700"/>
            <a:ext cx="671697" cy="2515292"/>
          </a:xfrm>
          <a:custGeom>
            <a:avLst/>
            <a:gdLst/>
            <a:ahLst/>
            <a:cxnLst/>
            <a:rect r="r" b="b" t="t" l="l"/>
            <a:pathLst>
              <a:path h="2515292" w="671697">
                <a:moveTo>
                  <a:pt x="0" y="0"/>
                </a:moveTo>
                <a:lnTo>
                  <a:pt x="671698" y="0"/>
                </a:lnTo>
                <a:lnTo>
                  <a:pt x="671698" y="2515292"/>
                </a:lnTo>
                <a:lnTo>
                  <a:pt x="0" y="25152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true" flipV="false" rot="-10800000">
            <a:off x="13674687" y="8741746"/>
            <a:ext cx="2642832" cy="1033107"/>
          </a:xfrm>
          <a:custGeom>
            <a:avLst/>
            <a:gdLst/>
            <a:ahLst/>
            <a:cxnLst/>
            <a:rect r="r" b="b" t="t" l="l"/>
            <a:pathLst>
              <a:path h="1033107" w="2642832">
                <a:moveTo>
                  <a:pt x="2642832" y="0"/>
                </a:moveTo>
                <a:lnTo>
                  <a:pt x="0" y="0"/>
                </a:lnTo>
                <a:lnTo>
                  <a:pt x="0" y="1033108"/>
                </a:lnTo>
                <a:lnTo>
                  <a:pt x="2642832" y="1033108"/>
                </a:lnTo>
                <a:lnTo>
                  <a:pt x="2642832"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2520130" y="3357591"/>
            <a:ext cx="7306984" cy="6193811"/>
          </a:xfrm>
          <a:custGeom>
            <a:avLst/>
            <a:gdLst/>
            <a:ahLst/>
            <a:cxnLst/>
            <a:rect r="r" b="b" t="t" l="l"/>
            <a:pathLst>
              <a:path h="6193811" w="7306984">
                <a:moveTo>
                  <a:pt x="0" y="0"/>
                </a:moveTo>
                <a:lnTo>
                  <a:pt x="7306984" y="0"/>
                </a:lnTo>
                <a:lnTo>
                  <a:pt x="7306984" y="6193811"/>
                </a:lnTo>
                <a:lnTo>
                  <a:pt x="0" y="6193811"/>
                </a:lnTo>
                <a:lnTo>
                  <a:pt x="0" y="0"/>
                </a:lnTo>
                <a:close/>
              </a:path>
            </a:pathLst>
          </a:custGeom>
          <a:blipFill>
            <a:blip r:embed="rId12"/>
            <a:stretch>
              <a:fillRect l="0" t="0" r="0" b="0"/>
            </a:stretch>
          </a:blipFill>
        </p:spPr>
      </p:sp>
      <p:sp>
        <p:nvSpPr>
          <p:cNvPr name="TextBox 8" id="8"/>
          <p:cNvSpPr txBox="true"/>
          <p:nvPr/>
        </p:nvSpPr>
        <p:spPr>
          <a:xfrm rot="0">
            <a:off x="10078347" y="3665779"/>
            <a:ext cx="6239173" cy="2165350"/>
          </a:xfrm>
          <a:prstGeom prst="rect">
            <a:avLst/>
          </a:prstGeom>
        </p:spPr>
        <p:txBody>
          <a:bodyPr anchor="t" rtlCol="false" tIns="0" lIns="0" bIns="0" rIns="0">
            <a:spAutoFit/>
          </a:bodyPr>
          <a:lstStyle/>
          <a:p>
            <a:pPr algn="l">
              <a:lnSpc>
                <a:spcPts val="3499"/>
              </a:lnSpc>
            </a:pPr>
            <a:r>
              <a:rPr lang="en-US" sz="2499">
                <a:solidFill>
                  <a:srgbClr val="000000"/>
                </a:solidFill>
                <a:latin typeface="Scope One"/>
                <a:ea typeface="Scope One"/>
                <a:cs typeface="Scope One"/>
                <a:sym typeface="Scope One"/>
              </a:rPr>
              <a:t>Aturan</a:t>
            </a:r>
          </a:p>
          <a:p>
            <a:pPr algn="l" marL="539749" indent="-269875" lvl="1">
              <a:lnSpc>
                <a:spcPts val="3499"/>
              </a:lnSpc>
              <a:spcBef>
                <a:spcPct val="0"/>
              </a:spcBef>
              <a:buFont typeface="Arial"/>
              <a:buChar char="•"/>
            </a:pPr>
            <a:r>
              <a:rPr lang="en-US" sz="2499">
                <a:solidFill>
                  <a:srgbClr val="000000"/>
                </a:solidFill>
                <a:latin typeface="Scope One"/>
                <a:ea typeface="Scope One"/>
                <a:cs typeface="Scope One"/>
                <a:sym typeface="Scope One"/>
              </a:rPr>
              <a:t>Mengunjungi semua kota.</a:t>
            </a:r>
          </a:p>
          <a:p>
            <a:pPr algn="l" marL="539749" indent="-269875" lvl="1">
              <a:lnSpc>
                <a:spcPts val="3499"/>
              </a:lnSpc>
              <a:spcBef>
                <a:spcPct val="0"/>
              </a:spcBef>
              <a:buFont typeface="Arial"/>
              <a:buChar char="•"/>
            </a:pPr>
            <a:r>
              <a:rPr lang="en-US" sz="2499">
                <a:solidFill>
                  <a:srgbClr val="000000"/>
                </a:solidFill>
                <a:latin typeface="Scope One"/>
                <a:ea typeface="Scope One"/>
                <a:cs typeface="Scope One"/>
                <a:sym typeface="Scope One"/>
              </a:rPr>
              <a:t>Mengunjungi setiap kota tepat satu kali.</a:t>
            </a:r>
          </a:p>
          <a:p>
            <a:pPr algn="l" marL="539749" indent="-269875" lvl="1">
              <a:lnSpc>
                <a:spcPts val="3499"/>
              </a:lnSpc>
              <a:spcBef>
                <a:spcPct val="0"/>
              </a:spcBef>
              <a:buFont typeface="Arial"/>
              <a:buChar char="•"/>
            </a:pPr>
            <a:r>
              <a:rPr lang="en-US" sz="2499">
                <a:solidFill>
                  <a:srgbClr val="000000"/>
                </a:solidFill>
                <a:latin typeface="Scope One"/>
                <a:ea typeface="Scope One"/>
                <a:cs typeface="Scope One"/>
                <a:sym typeface="Scope One"/>
              </a:rPr>
              <a:t>Kembali ke kota awal.</a:t>
            </a:r>
          </a:p>
          <a:p>
            <a:pPr algn="l" marL="539749" indent="-269875" lvl="1">
              <a:lnSpc>
                <a:spcPts val="3499"/>
              </a:lnSpc>
              <a:spcBef>
                <a:spcPct val="0"/>
              </a:spcBef>
              <a:buFont typeface="Arial"/>
              <a:buChar char="•"/>
            </a:pPr>
            <a:r>
              <a:rPr lang="en-US" sz="2499">
                <a:solidFill>
                  <a:srgbClr val="000000"/>
                </a:solidFill>
                <a:latin typeface="Scope One"/>
                <a:ea typeface="Scope One"/>
                <a:cs typeface="Scope One"/>
                <a:sym typeface="Scope One"/>
              </a:rPr>
              <a:t>Meminimalkan total jarak perjalanan.</a:t>
            </a:r>
          </a:p>
        </p:txBody>
      </p:sp>
      <p:sp>
        <p:nvSpPr>
          <p:cNvPr name="TextBox 9" id="9"/>
          <p:cNvSpPr txBox="true"/>
          <p:nvPr/>
        </p:nvSpPr>
        <p:spPr>
          <a:xfrm rot="0">
            <a:off x="11747391" y="177800"/>
            <a:ext cx="5985272" cy="850900"/>
          </a:xfrm>
          <a:prstGeom prst="rect">
            <a:avLst/>
          </a:prstGeom>
        </p:spPr>
        <p:txBody>
          <a:bodyPr anchor="t" rtlCol="false" tIns="0" lIns="0" bIns="0" rIns="0">
            <a:spAutoFit/>
          </a:bodyPr>
          <a:lstStyle/>
          <a:p>
            <a:pPr algn="r">
              <a:lnSpc>
                <a:spcPts val="3499"/>
              </a:lnSpc>
            </a:pPr>
            <a:r>
              <a:rPr lang="en-US" sz="2499">
                <a:solidFill>
                  <a:srgbClr val="000000"/>
                </a:solidFill>
                <a:latin typeface="Scope One"/>
                <a:ea typeface="Scope One"/>
                <a:cs typeface="Scope One"/>
                <a:sym typeface="Scope One"/>
              </a:rPr>
              <a:t>Khansa Adilla Reva (28426012)</a:t>
            </a:r>
          </a:p>
          <a:p>
            <a:pPr algn="r">
              <a:lnSpc>
                <a:spcPts val="3499"/>
              </a:lnSpc>
              <a:spcBef>
                <a:spcPct val="0"/>
              </a:spcBef>
            </a:pPr>
            <a:r>
              <a:rPr lang="en-US" sz="2499">
                <a:solidFill>
                  <a:srgbClr val="000000"/>
                </a:solidFill>
                <a:latin typeface="Scope One"/>
                <a:ea typeface="Scope One"/>
                <a:cs typeface="Scope One"/>
                <a:sym typeface="Scope One"/>
              </a:rPr>
              <a:t>Nyoman Giani Putri Widhianti (28426009)</a:t>
            </a:r>
          </a:p>
        </p:txBody>
      </p:sp>
      <p:sp>
        <p:nvSpPr>
          <p:cNvPr name="TextBox 10" id="10"/>
          <p:cNvSpPr txBox="true"/>
          <p:nvPr/>
        </p:nvSpPr>
        <p:spPr>
          <a:xfrm rot="0">
            <a:off x="2810445" y="1434175"/>
            <a:ext cx="12667110" cy="1923416"/>
          </a:xfrm>
          <a:prstGeom prst="rect">
            <a:avLst/>
          </a:prstGeom>
        </p:spPr>
        <p:txBody>
          <a:bodyPr anchor="t" rtlCol="false" tIns="0" lIns="0" bIns="0" rIns="0">
            <a:spAutoFit/>
          </a:bodyPr>
          <a:lstStyle/>
          <a:p>
            <a:pPr algn="ctr">
              <a:lnSpc>
                <a:spcPts val="7280"/>
              </a:lnSpc>
            </a:pPr>
            <a:r>
              <a:rPr lang="en-US" sz="8000">
                <a:solidFill>
                  <a:srgbClr val="37284D"/>
                </a:solidFill>
                <a:latin typeface="Fredoka"/>
                <a:ea typeface="Fredoka"/>
                <a:cs typeface="Fredoka"/>
                <a:sym typeface="Fredoka"/>
              </a:rPr>
              <a:t>TRAVELLING SALESMAN PROBLEM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2113841">
            <a:off x="15132928" y="-1522717"/>
            <a:ext cx="4767824" cy="4820410"/>
          </a:xfrm>
          <a:custGeom>
            <a:avLst/>
            <a:gdLst/>
            <a:ahLst/>
            <a:cxnLst/>
            <a:rect r="r" b="b" t="t" l="l"/>
            <a:pathLst>
              <a:path h="4820410" w="4767824">
                <a:moveTo>
                  <a:pt x="0" y="0"/>
                </a:moveTo>
                <a:lnTo>
                  <a:pt x="4767823" y="0"/>
                </a:lnTo>
                <a:lnTo>
                  <a:pt x="4767823" y="4820410"/>
                </a:lnTo>
                <a:lnTo>
                  <a:pt x="0" y="48204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457716" y="1272297"/>
            <a:ext cx="1141968" cy="654774"/>
          </a:xfrm>
          <a:custGeom>
            <a:avLst/>
            <a:gdLst/>
            <a:ahLst/>
            <a:cxnLst/>
            <a:rect r="r" b="b" t="t" l="l"/>
            <a:pathLst>
              <a:path h="654774" w="1141968">
                <a:moveTo>
                  <a:pt x="0" y="0"/>
                </a:moveTo>
                <a:lnTo>
                  <a:pt x="1141968" y="0"/>
                </a:lnTo>
                <a:lnTo>
                  <a:pt x="1141968" y="654774"/>
                </a:lnTo>
                <a:lnTo>
                  <a:pt x="0" y="654774"/>
                </a:lnTo>
                <a:lnTo>
                  <a:pt x="0" y="0"/>
                </a:lnTo>
                <a:close/>
              </a:path>
            </a:pathLst>
          </a:custGeom>
          <a:blipFill>
            <a:blip r:embed="rId4">
              <a:extLst>
                <a:ext uri="{96DAC541-7B7A-43D3-8B79-37D633B846F1}">
                  <asvg:svgBlip xmlns:asvg="http://schemas.microsoft.com/office/drawing/2016/SVG/main" r:embed="rId5"/>
                </a:ext>
              </a:extLst>
            </a:blip>
            <a:stretch>
              <a:fillRect l="0" t="-74406" r="0" b="0"/>
            </a:stretch>
          </a:blipFill>
        </p:spPr>
      </p:sp>
      <p:sp>
        <p:nvSpPr>
          <p:cNvPr name="Freeform 4" id="4"/>
          <p:cNvSpPr/>
          <p:nvPr/>
        </p:nvSpPr>
        <p:spPr>
          <a:xfrm flipH="false" flipV="false" rot="5400000">
            <a:off x="15665806" y="8006076"/>
            <a:ext cx="671697" cy="2515292"/>
          </a:xfrm>
          <a:custGeom>
            <a:avLst/>
            <a:gdLst/>
            <a:ahLst/>
            <a:cxnLst/>
            <a:rect r="r" b="b" t="t" l="l"/>
            <a:pathLst>
              <a:path h="2515292" w="671697">
                <a:moveTo>
                  <a:pt x="0" y="0"/>
                </a:moveTo>
                <a:lnTo>
                  <a:pt x="671697" y="0"/>
                </a:lnTo>
                <a:lnTo>
                  <a:pt x="671697" y="2515291"/>
                </a:lnTo>
                <a:lnTo>
                  <a:pt x="0" y="25152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10800000">
            <a:off x="13674687" y="512146"/>
            <a:ext cx="2642832" cy="1033107"/>
          </a:xfrm>
          <a:custGeom>
            <a:avLst/>
            <a:gdLst/>
            <a:ahLst/>
            <a:cxnLst/>
            <a:rect r="r" b="b" t="t" l="l"/>
            <a:pathLst>
              <a:path h="1033107" w="2642832">
                <a:moveTo>
                  <a:pt x="0" y="0"/>
                </a:moveTo>
                <a:lnTo>
                  <a:pt x="2642832" y="0"/>
                </a:lnTo>
                <a:lnTo>
                  <a:pt x="2642832" y="1033108"/>
                </a:lnTo>
                <a:lnTo>
                  <a:pt x="0" y="103310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739312" y="6250246"/>
            <a:ext cx="6258139" cy="4585509"/>
          </a:xfrm>
          <a:custGeom>
            <a:avLst/>
            <a:gdLst/>
            <a:ahLst/>
            <a:cxnLst/>
            <a:rect r="r" b="b" t="t" l="l"/>
            <a:pathLst>
              <a:path h="4585509" w="6258139">
                <a:moveTo>
                  <a:pt x="0" y="0"/>
                </a:moveTo>
                <a:lnTo>
                  <a:pt x="6258138" y="0"/>
                </a:lnTo>
                <a:lnTo>
                  <a:pt x="6258138" y="4585509"/>
                </a:lnTo>
                <a:lnTo>
                  <a:pt x="0" y="458550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3498093" y="3624603"/>
            <a:ext cx="11291814" cy="2762740"/>
          </a:xfrm>
          <a:custGeom>
            <a:avLst/>
            <a:gdLst/>
            <a:ahLst/>
            <a:cxnLst/>
            <a:rect r="r" b="b" t="t" l="l"/>
            <a:pathLst>
              <a:path h="2762740" w="11291814">
                <a:moveTo>
                  <a:pt x="0" y="0"/>
                </a:moveTo>
                <a:lnTo>
                  <a:pt x="11291814" y="0"/>
                </a:lnTo>
                <a:lnTo>
                  <a:pt x="11291814" y="2762739"/>
                </a:lnTo>
                <a:lnTo>
                  <a:pt x="0" y="2762739"/>
                </a:lnTo>
                <a:lnTo>
                  <a:pt x="0" y="0"/>
                </a:lnTo>
                <a:close/>
              </a:path>
            </a:pathLst>
          </a:custGeom>
          <a:blipFill>
            <a:blip r:embed="rId12"/>
            <a:stretch>
              <a:fillRect l="0" t="0" r="0" b="0"/>
            </a:stretch>
          </a:blipFill>
        </p:spPr>
      </p:sp>
      <p:sp>
        <p:nvSpPr>
          <p:cNvPr name="TextBox 8" id="8"/>
          <p:cNvSpPr txBox="true"/>
          <p:nvPr/>
        </p:nvSpPr>
        <p:spPr>
          <a:xfrm rot="0">
            <a:off x="3291897" y="1691160"/>
            <a:ext cx="11704206" cy="1377949"/>
          </a:xfrm>
          <a:prstGeom prst="rect">
            <a:avLst/>
          </a:prstGeom>
        </p:spPr>
        <p:txBody>
          <a:bodyPr anchor="t" rtlCol="false" tIns="0" lIns="0" bIns="0" rIns="0">
            <a:spAutoFit/>
          </a:bodyPr>
          <a:lstStyle/>
          <a:p>
            <a:pPr algn="ctr">
              <a:lnSpc>
                <a:spcPts val="11200"/>
              </a:lnSpc>
            </a:pPr>
            <a:r>
              <a:rPr lang="en-US" sz="8000" u="sng">
                <a:solidFill>
                  <a:srgbClr val="37284D"/>
                </a:solidFill>
                <a:latin typeface="Fredoka"/>
                <a:ea typeface="Fredoka"/>
                <a:cs typeface="Fredoka"/>
                <a:sym typeface="Fredoka"/>
                <a:hlinkClick r:id="rId13" tooltip="https://github.com/mastqe/tsplib"/>
              </a:rPr>
              <a:t>DATA : TSPLIB</a:t>
            </a:r>
          </a:p>
        </p:txBody>
      </p:sp>
      <p:sp>
        <p:nvSpPr>
          <p:cNvPr name="TextBox 9" id="9"/>
          <p:cNvSpPr txBox="true"/>
          <p:nvPr/>
        </p:nvSpPr>
        <p:spPr>
          <a:xfrm rot="0">
            <a:off x="3030527" y="7049638"/>
            <a:ext cx="12226947" cy="1727200"/>
          </a:xfrm>
          <a:prstGeom prst="rect">
            <a:avLst/>
          </a:prstGeom>
        </p:spPr>
        <p:txBody>
          <a:bodyPr anchor="t" rtlCol="false" tIns="0" lIns="0" bIns="0" rIns="0">
            <a:spAutoFit/>
          </a:bodyPr>
          <a:lstStyle/>
          <a:p>
            <a:pPr algn="ctr">
              <a:lnSpc>
                <a:spcPts val="3499"/>
              </a:lnSpc>
              <a:spcBef>
                <a:spcPct val="0"/>
              </a:spcBef>
            </a:pPr>
            <a:r>
              <a:rPr lang="en-US" sz="2499">
                <a:solidFill>
                  <a:srgbClr val="37284D"/>
                </a:solidFill>
                <a:latin typeface="Scope One"/>
                <a:ea typeface="Scope One"/>
                <a:cs typeface="Scope One"/>
                <a:sym typeface="Scope One"/>
              </a:rPr>
              <a:t> Keuntungannya adalah kita memiliki instans masalah beserta nilai optimum yang dapat dijadikan acuan. Nilai optimum berguna karena kita tidak hanya menilai algoritma berdasarkan apakah rutenya terlihat bagus. Kita dapat menghitung seberapa jauh hasilnya dari solusi acuan.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AF8FC"/>
        </a:solidFill>
      </p:bgPr>
    </p:bg>
    <p:spTree>
      <p:nvGrpSpPr>
        <p:cNvPr id="1" name=""/>
        <p:cNvGrpSpPr/>
        <p:nvPr/>
      </p:nvGrpSpPr>
      <p:grpSpPr>
        <a:xfrm>
          <a:off x="0" y="0"/>
          <a:ext cx="0" cy="0"/>
          <a:chOff x="0" y="0"/>
          <a:chExt cx="0" cy="0"/>
        </a:xfrm>
      </p:grpSpPr>
      <p:sp>
        <p:nvSpPr>
          <p:cNvPr name="Freeform 2" id="2"/>
          <p:cNvSpPr/>
          <p:nvPr/>
        </p:nvSpPr>
        <p:spPr>
          <a:xfrm flipH="false" flipV="false" rot="4847220">
            <a:off x="-996350" y="-1768782"/>
            <a:ext cx="4006919" cy="5323202"/>
          </a:xfrm>
          <a:custGeom>
            <a:avLst/>
            <a:gdLst/>
            <a:ahLst/>
            <a:cxnLst/>
            <a:rect r="r" b="b" t="t" l="l"/>
            <a:pathLst>
              <a:path h="5323202" w="4006919">
                <a:moveTo>
                  <a:pt x="0" y="0"/>
                </a:moveTo>
                <a:lnTo>
                  <a:pt x="4006919" y="0"/>
                </a:lnTo>
                <a:lnTo>
                  <a:pt x="4006919" y="5323202"/>
                </a:lnTo>
                <a:lnTo>
                  <a:pt x="0" y="53232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433869" y="7995417"/>
            <a:ext cx="6483934" cy="2923665"/>
          </a:xfrm>
          <a:custGeom>
            <a:avLst/>
            <a:gdLst/>
            <a:ahLst/>
            <a:cxnLst/>
            <a:rect r="r" b="b" t="t" l="l"/>
            <a:pathLst>
              <a:path h="2923665" w="6483934">
                <a:moveTo>
                  <a:pt x="0" y="0"/>
                </a:moveTo>
                <a:lnTo>
                  <a:pt x="6483934" y="0"/>
                </a:lnTo>
                <a:lnTo>
                  <a:pt x="6483934" y="2923665"/>
                </a:lnTo>
                <a:lnTo>
                  <a:pt x="0" y="292366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6679855" y="1272297"/>
            <a:ext cx="1141968" cy="654774"/>
          </a:xfrm>
          <a:custGeom>
            <a:avLst/>
            <a:gdLst/>
            <a:ahLst/>
            <a:cxnLst/>
            <a:rect r="r" b="b" t="t" l="l"/>
            <a:pathLst>
              <a:path h="654774" w="1141968">
                <a:moveTo>
                  <a:pt x="0" y="0"/>
                </a:moveTo>
                <a:lnTo>
                  <a:pt x="1141967" y="0"/>
                </a:lnTo>
                <a:lnTo>
                  <a:pt x="1141967" y="654774"/>
                </a:lnTo>
                <a:lnTo>
                  <a:pt x="0" y="654774"/>
                </a:lnTo>
                <a:lnTo>
                  <a:pt x="0" y="0"/>
                </a:lnTo>
                <a:close/>
              </a:path>
            </a:pathLst>
          </a:custGeom>
          <a:blipFill>
            <a:blip r:embed="rId6">
              <a:extLst>
                <a:ext uri="{96DAC541-7B7A-43D3-8B79-37D633B846F1}">
                  <asvg:svgBlip xmlns:asvg="http://schemas.microsoft.com/office/drawing/2016/SVG/main" r:embed="rId7"/>
                </a:ext>
              </a:extLst>
            </a:blip>
            <a:stretch>
              <a:fillRect l="0" t="-74406" r="0" b="0"/>
            </a:stretch>
          </a:blipFill>
        </p:spPr>
      </p:sp>
      <p:sp>
        <p:nvSpPr>
          <p:cNvPr name="Freeform 5" id="5"/>
          <p:cNvSpPr/>
          <p:nvPr/>
        </p:nvSpPr>
        <p:spPr>
          <a:xfrm flipH="false" flipV="false" rot="0">
            <a:off x="692851" y="6743008"/>
            <a:ext cx="671697" cy="2515292"/>
          </a:xfrm>
          <a:custGeom>
            <a:avLst/>
            <a:gdLst/>
            <a:ahLst/>
            <a:cxnLst/>
            <a:rect r="r" b="b" t="t" l="l"/>
            <a:pathLst>
              <a:path h="2515292" w="671697">
                <a:moveTo>
                  <a:pt x="0" y="0"/>
                </a:moveTo>
                <a:lnTo>
                  <a:pt x="671698" y="0"/>
                </a:lnTo>
                <a:lnTo>
                  <a:pt x="671698" y="2515292"/>
                </a:lnTo>
                <a:lnTo>
                  <a:pt x="0" y="25152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10800000">
            <a:off x="1716255" y="512146"/>
            <a:ext cx="2642832" cy="1033107"/>
          </a:xfrm>
          <a:custGeom>
            <a:avLst/>
            <a:gdLst/>
            <a:ahLst/>
            <a:cxnLst/>
            <a:rect r="r" b="b" t="t" l="l"/>
            <a:pathLst>
              <a:path h="1033107" w="2642832">
                <a:moveTo>
                  <a:pt x="0" y="0"/>
                </a:moveTo>
                <a:lnTo>
                  <a:pt x="2642832" y="0"/>
                </a:lnTo>
                <a:lnTo>
                  <a:pt x="2642832" y="1033108"/>
                </a:lnTo>
                <a:lnTo>
                  <a:pt x="0" y="103310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7" id="7"/>
          <p:cNvGrpSpPr/>
          <p:nvPr/>
        </p:nvGrpSpPr>
        <p:grpSpPr>
          <a:xfrm rot="0">
            <a:off x="3288311" y="3624603"/>
            <a:ext cx="443858" cy="443858"/>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8B9E8"/>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3499"/>
                </a:lnSpc>
              </a:pPr>
            </a:p>
          </p:txBody>
        </p:sp>
      </p:grpSp>
      <p:grpSp>
        <p:nvGrpSpPr>
          <p:cNvPr name="Group 10" id="10"/>
          <p:cNvGrpSpPr/>
          <p:nvPr/>
        </p:nvGrpSpPr>
        <p:grpSpPr>
          <a:xfrm rot="0">
            <a:off x="10693422" y="3589999"/>
            <a:ext cx="443858" cy="443858"/>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8B9E8"/>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3499"/>
                </a:lnSpc>
              </a:pPr>
            </a:p>
          </p:txBody>
        </p:sp>
      </p:grpSp>
      <p:grpSp>
        <p:nvGrpSpPr>
          <p:cNvPr name="Group 13" id="13"/>
          <p:cNvGrpSpPr/>
          <p:nvPr/>
        </p:nvGrpSpPr>
        <p:grpSpPr>
          <a:xfrm rot="0">
            <a:off x="10753473" y="6250236"/>
            <a:ext cx="443858" cy="443858"/>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8B9E8"/>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3499"/>
                </a:lnSpc>
              </a:pPr>
            </a:p>
          </p:txBody>
        </p:sp>
      </p:grpSp>
      <p:sp>
        <p:nvSpPr>
          <p:cNvPr name="Freeform 16" id="16"/>
          <p:cNvSpPr/>
          <p:nvPr/>
        </p:nvSpPr>
        <p:spPr>
          <a:xfrm flipH="false" flipV="false" rot="0">
            <a:off x="11454936" y="4318431"/>
            <a:ext cx="4517320" cy="1250950"/>
          </a:xfrm>
          <a:custGeom>
            <a:avLst/>
            <a:gdLst/>
            <a:ahLst/>
            <a:cxnLst/>
            <a:rect r="r" b="b" t="t" l="l"/>
            <a:pathLst>
              <a:path h="1250950" w="4517320">
                <a:moveTo>
                  <a:pt x="0" y="0"/>
                </a:moveTo>
                <a:lnTo>
                  <a:pt x="4517320" y="0"/>
                </a:lnTo>
                <a:lnTo>
                  <a:pt x="4517320" y="1250950"/>
                </a:lnTo>
                <a:lnTo>
                  <a:pt x="0" y="1250950"/>
                </a:lnTo>
                <a:lnTo>
                  <a:pt x="0" y="0"/>
                </a:lnTo>
                <a:close/>
              </a:path>
            </a:pathLst>
          </a:custGeom>
          <a:blipFill>
            <a:blip r:embed="rId12"/>
            <a:stretch>
              <a:fillRect l="0" t="0" r="0" b="0"/>
            </a:stretch>
          </a:blipFill>
        </p:spPr>
      </p:sp>
      <p:sp>
        <p:nvSpPr>
          <p:cNvPr name="Freeform 17" id="17"/>
          <p:cNvSpPr/>
          <p:nvPr/>
        </p:nvSpPr>
        <p:spPr>
          <a:xfrm flipH="false" flipV="false" rot="0">
            <a:off x="11670942" y="7014798"/>
            <a:ext cx="3595349" cy="1130356"/>
          </a:xfrm>
          <a:custGeom>
            <a:avLst/>
            <a:gdLst/>
            <a:ahLst/>
            <a:cxnLst/>
            <a:rect r="r" b="b" t="t" l="l"/>
            <a:pathLst>
              <a:path h="1130356" w="3595349">
                <a:moveTo>
                  <a:pt x="0" y="0"/>
                </a:moveTo>
                <a:lnTo>
                  <a:pt x="3595349" y="0"/>
                </a:lnTo>
                <a:lnTo>
                  <a:pt x="3595349" y="1130356"/>
                </a:lnTo>
                <a:lnTo>
                  <a:pt x="0" y="1130356"/>
                </a:lnTo>
                <a:lnTo>
                  <a:pt x="0" y="0"/>
                </a:lnTo>
                <a:close/>
              </a:path>
            </a:pathLst>
          </a:custGeom>
          <a:blipFill>
            <a:blip r:embed="rId13"/>
            <a:stretch>
              <a:fillRect l="0" t="0" r="0" b="0"/>
            </a:stretch>
          </a:blipFill>
        </p:spPr>
      </p:sp>
      <p:sp>
        <p:nvSpPr>
          <p:cNvPr name="TextBox 18" id="18"/>
          <p:cNvSpPr txBox="true"/>
          <p:nvPr/>
        </p:nvSpPr>
        <p:spPr>
          <a:xfrm rot="0">
            <a:off x="3291897" y="1691160"/>
            <a:ext cx="11704206" cy="1377949"/>
          </a:xfrm>
          <a:prstGeom prst="rect">
            <a:avLst/>
          </a:prstGeom>
        </p:spPr>
        <p:txBody>
          <a:bodyPr anchor="t" rtlCol="false" tIns="0" lIns="0" bIns="0" rIns="0">
            <a:spAutoFit/>
          </a:bodyPr>
          <a:lstStyle/>
          <a:p>
            <a:pPr algn="ctr">
              <a:lnSpc>
                <a:spcPts val="11200"/>
              </a:lnSpc>
            </a:pPr>
            <a:r>
              <a:rPr lang="en-US" sz="8000">
                <a:solidFill>
                  <a:srgbClr val="37284D"/>
                </a:solidFill>
                <a:latin typeface="Fredoka"/>
                <a:ea typeface="Fredoka"/>
                <a:cs typeface="Fredoka"/>
                <a:sym typeface="Fredoka"/>
              </a:rPr>
              <a:t>FORMULASI SOLUSI</a:t>
            </a:r>
          </a:p>
        </p:txBody>
      </p:sp>
      <p:sp>
        <p:nvSpPr>
          <p:cNvPr name="TextBox 19" id="19"/>
          <p:cNvSpPr txBox="true"/>
          <p:nvPr/>
        </p:nvSpPr>
        <p:spPr>
          <a:xfrm rot="0">
            <a:off x="3348363" y="3621106"/>
            <a:ext cx="323754" cy="412750"/>
          </a:xfrm>
          <a:prstGeom prst="rect">
            <a:avLst/>
          </a:prstGeom>
        </p:spPr>
        <p:txBody>
          <a:bodyPr anchor="t" rtlCol="false" tIns="0" lIns="0" bIns="0" rIns="0">
            <a:spAutoFit/>
          </a:bodyPr>
          <a:lstStyle/>
          <a:p>
            <a:pPr algn="ctr">
              <a:lnSpc>
                <a:spcPts val="3499"/>
              </a:lnSpc>
            </a:pPr>
            <a:r>
              <a:rPr lang="en-US" sz="2499">
                <a:solidFill>
                  <a:srgbClr val="37284D"/>
                </a:solidFill>
                <a:latin typeface="Scope One"/>
                <a:ea typeface="Scope One"/>
                <a:cs typeface="Scope One"/>
                <a:sym typeface="Scope One"/>
              </a:rPr>
              <a:t>1</a:t>
            </a:r>
          </a:p>
        </p:txBody>
      </p:sp>
      <p:sp>
        <p:nvSpPr>
          <p:cNvPr name="TextBox 20" id="20"/>
          <p:cNvSpPr txBox="true"/>
          <p:nvPr/>
        </p:nvSpPr>
        <p:spPr>
          <a:xfrm rot="0">
            <a:off x="3950653" y="3621106"/>
            <a:ext cx="3376700" cy="412750"/>
          </a:xfrm>
          <a:prstGeom prst="rect">
            <a:avLst/>
          </a:prstGeom>
        </p:spPr>
        <p:txBody>
          <a:bodyPr anchor="t" rtlCol="false" tIns="0" lIns="0" bIns="0" rIns="0">
            <a:spAutoFit/>
          </a:bodyPr>
          <a:lstStyle/>
          <a:p>
            <a:pPr algn="l">
              <a:lnSpc>
                <a:spcPts val="3499"/>
              </a:lnSpc>
            </a:pPr>
            <a:r>
              <a:rPr lang="en-US" sz="2499">
                <a:solidFill>
                  <a:srgbClr val="37284D"/>
                </a:solidFill>
                <a:latin typeface="Scope One"/>
                <a:ea typeface="Scope One"/>
                <a:cs typeface="Scope One"/>
                <a:sym typeface="Scope One"/>
              </a:rPr>
              <a:t>Representasi Solusi</a:t>
            </a:r>
          </a:p>
        </p:txBody>
      </p:sp>
      <p:sp>
        <p:nvSpPr>
          <p:cNvPr name="TextBox 21" id="21"/>
          <p:cNvSpPr txBox="true"/>
          <p:nvPr/>
        </p:nvSpPr>
        <p:spPr>
          <a:xfrm rot="0">
            <a:off x="10753473" y="3586503"/>
            <a:ext cx="323754" cy="412750"/>
          </a:xfrm>
          <a:prstGeom prst="rect">
            <a:avLst/>
          </a:prstGeom>
        </p:spPr>
        <p:txBody>
          <a:bodyPr anchor="t" rtlCol="false" tIns="0" lIns="0" bIns="0" rIns="0">
            <a:spAutoFit/>
          </a:bodyPr>
          <a:lstStyle/>
          <a:p>
            <a:pPr algn="ctr">
              <a:lnSpc>
                <a:spcPts val="3499"/>
              </a:lnSpc>
            </a:pPr>
            <a:r>
              <a:rPr lang="en-US" sz="2499">
                <a:solidFill>
                  <a:srgbClr val="37284D"/>
                </a:solidFill>
                <a:latin typeface="Scope One"/>
                <a:ea typeface="Scope One"/>
                <a:cs typeface="Scope One"/>
                <a:sym typeface="Scope One"/>
              </a:rPr>
              <a:t>2</a:t>
            </a:r>
          </a:p>
        </p:txBody>
      </p:sp>
      <p:sp>
        <p:nvSpPr>
          <p:cNvPr name="TextBox 22" id="22"/>
          <p:cNvSpPr txBox="true"/>
          <p:nvPr/>
        </p:nvSpPr>
        <p:spPr>
          <a:xfrm rot="0">
            <a:off x="11137279" y="3586503"/>
            <a:ext cx="2297331" cy="412750"/>
          </a:xfrm>
          <a:prstGeom prst="rect">
            <a:avLst/>
          </a:prstGeom>
        </p:spPr>
        <p:txBody>
          <a:bodyPr anchor="t" rtlCol="false" tIns="0" lIns="0" bIns="0" rIns="0">
            <a:spAutoFit/>
          </a:bodyPr>
          <a:lstStyle/>
          <a:p>
            <a:pPr algn="ctr">
              <a:lnSpc>
                <a:spcPts val="3499"/>
              </a:lnSpc>
            </a:pPr>
            <a:r>
              <a:rPr lang="en-US" sz="2499">
                <a:solidFill>
                  <a:srgbClr val="37284D"/>
                </a:solidFill>
                <a:latin typeface="Scope One"/>
                <a:ea typeface="Scope One"/>
                <a:cs typeface="Scope One"/>
                <a:sym typeface="Scope One"/>
              </a:rPr>
              <a:t>Fungsi cost</a:t>
            </a:r>
          </a:p>
        </p:txBody>
      </p:sp>
      <p:sp>
        <p:nvSpPr>
          <p:cNvPr name="TextBox 23" id="23"/>
          <p:cNvSpPr txBox="true"/>
          <p:nvPr/>
        </p:nvSpPr>
        <p:spPr>
          <a:xfrm rot="0">
            <a:off x="10813525" y="6246740"/>
            <a:ext cx="323754" cy="412750"/>
          </a:xfrm>
          <a:prstGeom prst="rect">
            <a:avLst/>
          </a:prstGeom>
        </p:spPr>
        <p:txBody>
          <a:bodyPr anchor="t" rtlCol="false" tIns="0" lIns="0" bIns="0" rIns="0">
            <a:spAutoFit/>
          </a:bodyPr>
          <a:lstStyle/>
          <a:p>
            <a:pPr algn="ctr">
              <a:lnSpc>
                <a:spcPts val="3499"/>
              </a:lnSpc>
            </a:pPr>
            <a:r>
              <a:rPr lang="en-US" sz="2499">
                <a:solidFill>
                  <a:srgbClr val="37284D"/>
                </a:solidFill>
                <a:latin typeface="Scope One"/>
                <a:ea typeface="Scope One"/>
                <a:cs typeface="Scope One"/>
                <a:sym typeface="Scope One"/>
              </a:rPr>
              <a:t>4</a:t>
            </a:r>
          </a:p>
        </p:txBody>
      </p:sp>
      <p:sp>
        <p:nvSpPr>
          <p:cNvPr name="TextBox 24" id="24"/>
          <p:cNvSpPr txBox="true"/>
          <p:nvPr/>
        </p:nvSpPr>
        <p:spPr>
          <a:xfrm rot="0">
            <a:off x="11670942" y="6278198"/>
            <a:ext cx="3376700" cy="412750"/>
          </a:xfrm>
          <a:prstGeom prst="rect">
            <a:avLst/>
          </a:prstGeom>
        </p:spPr>
        <p:txBody>
          <a:bodyPr anchor="t" rtlCol="false" tIns="0" lIns="0" bIns="0" rIns="0">
            <a:spAutoFit/>
          </a:bodyPr>
          <a:lstStyle/>
          <a:p>
            <a:pPr algn="l">
              <a:lnSpc>
                <a:spcPts val="3499"/>
              </a:lnSpc>
            </a:pPr>
            <a:r>
              <a:rPr lang="en-US" sz="2499">
                <a:solidFill>
                  <a:srgbClr val="37284D"/>
                </a:solidFill>
                <a:latin typeface="Scope One"/>
                <a:ea typeface="Scope One"/>
                <a:cs typeface="Scope One"/>
                <a:sym typeface="Scope One"/>
              </a:rPr>
              <a:t>Optimality Gap</a:t>
            </a:r>
          </a:p>
        </p:txBody>
      </p:sp>
      <p:sp>
        <p:nvSpPr>
          <p:cNvPr name="TextBox 25" id="25"/>
          <p:cNvSpPr txBox="true"/>
          <p:nvPr/>
        </p:nvSpPr>
        <p:spPr>
          <a:xfrm rot="0">
            <a:off x="3950653" y="4216831"/>
            <a:ext cx="6152219" cy="1289050"/>
          </a:xfrm>
          <a:prstGeom prst="rect">
            <a:avLst/>
          </a:prstGeom>
        </p:spPr>
        <p:txBody>
          <a:bodyPr anchor="t" rtlCol="false" tIns="0" lIns="0" bIns="0" rIns="0">
            <a:spAutoFit/>
          </a:bodyPr>
          <a:lstStyle/>
          <a:p>
            <a:pPr algn="l">
              <a:lnSpc>
                <a:spcPts val="3499"/>
              </a:lnSpc>
            </a:pPr>
            <a:r>
              <a:rPr lang="en-US" sz="2499">
                <a:solidFill>
                  <a:srgbClr val="37284D"/>
                </a:solidFill>
                <a:latin typeface="Scope One"/>
                <a:ea typeface="Scope One"/>
                <a:cs typeface="Scope One"/>
                <a:sym typeface="Scope One"/>
              </a:rPr>
              <a:t>Misalnya ada lima kota yang diberi indeks 0, 1, 2, 3, dan 4. Kita menyimpan satu kandidat rute seperti ini:</a:t>
            </a:r>
          </a:p>
        </p:txBody>
      </p:sp>
      <p:sp>
        <p:nvSpPr>
          <p:cNvPr name="TextBox 26" id="26"/>
          <p:cNvSpPr txBox="true"/>
          <p:nvPr/>
        </p:nvSpPr>
        <p:spPr>
          <a:xfrm rot="0">
            <a:off x="3950653" y="5791631"/>
            <a:ext cx="1700808" cy="412750"/>
          </a:xfrm>
          <a:prstGeom prst="rect">
            <a:avLst/>
          </a:prstGeom>
        </p:spPr>
        <p:txBody>
          <a:bodyPr anchor="t" rtlCol="false" tIns="0" lIns="0" bIns="0" rIns="0">
            <a:spAutoFit/>
          </a:bodyPr>
          <a:lstStyle/>
          <a:p>
            <a:pPr algn="ctr">
              <a:lnSpc>
                <a:spcPts val="3499"/>
              </a:lnSpc>
              <a:spcBef>
                <a:spcPct val="0"/>
              </a:spcBef>
            </a:pPr>
            <a:r>
              <a:rPr lang="en-US" sz="2499">
                <a:solidFill>
                  <a:srgbClr val="37284D"/>
                </a:solidFill>
                <a:latin typeface="Scope One"/>
                <a:ea typeface="Scope One"/>
                <a:cs typeface="Scope One"/>
                <a:sym typeface="Scope One"/>
              </a:rPr>
              <a:t>[3, 0, 4, 0, 2]</a:t>
            </a:r>
          </a:p>
        </p:txBody>
      </p:sp>
      <p:sp>
        <p:nvSpPr>
          <p:cNvPr name="TextBox 27" id="27"/>
          <p:cNvSpPr txBox="true"/>
          <p:nvPr/>
        </p:nvSpPr>
        <p:spPr>
          <a:xfrm rot="0">
            <a:off x="3950653" y="6471081"/>
            <a:ext cx="5939284" cy="412750"/>
          </a:xfrm>
          <a:prstGeom prst="rect">
            <a:avLst/>
          </a:prstGeom>
        </p:spPr>
        <p:txBody>
          <a:bodyPr anchor="t" rtlCol="false" tIns="0" lIns="0" bIns="0" rIns="0">
            <a:spAutoFit/>
          </a:bodyPr>
          <a:lstStyle/>
          <a:p>
            <a:pPr algn="ctr">
              <a:lnSpc>
                <a:spcPts val="3499"/>
              </a:lnSpc>
              <a:spcBef>
                <a:spcPct val="0"/>
              </a:spcBef>
            </a:pPr>
            <a:r>
              <a:rPr lang="en-US" sz="2499">
                <a:solidFill>
                  <a:srgbClr val="37284D"/>
                </a:solidFill>
                <a:latin typeface="Scope One"/>
                <a:ea typeface="Scope One"/>
                <a:cs typeface="Scope One"/>
                <a:sym typeface="Scope One"/>
              </a:rPr>
              <a:t>Urutan kunjungan: 3 → 0 → 4 → 1 → 2 →</a:t>
            </a:r>
          </a:p>
        </p:txBody>
      </p:sp>
      <p:sp>
        <p:nvSpPr>
          <p:cNvPr name="TextBox 28" id="28"/>
          <p:cNvSpPr txBox="true"/>
          <p:nvPr/>
        </p:nvSpPr>
        <p:spPr>
          <a:xfrm rot="0">
            <a:off x="11653211" y="8185471"/>
            <a:ext cx="6242393" cy="740246"/>
          </a:xfrm>
          <a:prstGeom prst="rect">
            <a:avLst/>
          </a:prstGeom>
        </p:spPr>
        <p:txBody>
          <a:bodyPr anchor="t" rtlCol="false" tIns="0" lIns="0" bIns="0" rIns="0">
            <a:spAutoFit/>
          </a:bodyPr>
          <a:lstStyle/>
          <a:p>
            <a:pPr algn="l" marL="466268" indent="-233134" lvl="1">
              <a:lnSpc>
                <a:spcPts val="3023"/>
              </a:lnSpc>
              <a:spcBef>
                <a:spcPct val="0"/>
              </a:spcBef>
              <a:buFont typeface="Arial"/>
              <a:buChar char="•"/>
            </a:pPr>
            <a:r>
              <a:rPr lang="en-US" sz="2159">
                <a:solidFill>
                  <a:srgbClr val="37284D"/>
                </a:solidFill>
                <a:latin typeface="Scope One"/>
                <a:ea typeface="Scope One"/>
                <a:cs typeface="Scope One"/>
                <a:sym typeface="Scope One"/>
              </a:rPr>
              <a:t>L : </a:t>
            </a:r>
            <a:r>
              <a:rPr lang="en-US" sz="2159">
                <a:solidFill>
                  <a:srgbClr val="37284D"/>
                </a:solidFill>
                <a:latin typeface="Scope One"/>
                <a:ea typeface="Scope One"/>
                <a:cs typeface="Scope One"/>
                <a:sym typeface="Scope One"/>
              </a:rPr>
              <a:t>panjang rute yang ditemukan algoritma.</a:t>
            </a:r>
          </a:p>
          <a:p>
            <a:pPr algn="l" marL="466268" indent="-233134" lvl="1">
              <a:lnSpc>
                <a:spcPts val="3023"/>
              </a:lnSpc>
              <a:spcBef>
                <a:spcPct val="0"/>
              </a:spcBef>
              <a:buFont typeface="Arial"/>
              <a:buChar char="•"/>
            </a:pPr>
            <a:r>
              <a:rPr lang="en-US" sz="2159">
                <a:solidFill>
                  <a:srgbClr val="37284D"/>
                </a:solidFill>
                <a:latin typeface="Scope One"/>
                <a:ea typeface="Scope One"/>
                <a:cs typeface="Scope One"/>
                <a:sym typeface="Scope One"/>
              </a:rPr>
              <a:t>L* : nilai optimum benchmark.</a:t>
            </a:r>
          </a:p>
        </p:txBody>
      </p:sp>
      <p:sp>
        <p:nvSpPr>
          <p:cNvPr name="TextBox 29" id="29"/>
          <p:cNvSpPr txBox="true"/>
          <p:nvPr/>
        </p:nvSpPr>
        <p:spPr>
          <a:xfrm rot="0">
            <a:off x="3905442" y="7911069"/>
            <a:ext cx="5206876" cy="1289050"/>
          </a:xfrm>
          <a:prstGeom prst="rect">
            <a:avLst/>
          </a:prstGeom>
        </p:spPr>
        <p:txBody>
          <a:bodyPr anchor="t" rtlCol="false" tIns="0" lIns="0" bIns="0" rIns="0">
            <a:spAutoFit/>
          </a:bodyPr>
          <a:lstStyle/>
          <a:p>
            <a:pPr algn="l">
              <a:lnSpc>
                <a:spcPts val="3499"/>
              </a:lnSpc>
              <a:spcBef>
                <a:spcPct val="0"/>
              </a:spcBef>
            </a:pPr>
            <a:r>
              <a:rPr lang="en-US" sz="2499">
                <a:solidFill>
                  <a:srgbClr val="37284D"/>
                </a:solidFill>
                <a:latin typeface="Scope One"/>
                <a:ea typeface="Scope One"/>
                <a:cs typeface="Scope One"/>
                <a:sym typeface="Scope One"/>
              </a:rPr>
              <a:t>2-opt adalah operator yang mengubah rute dengan membalik satu segmen urutan kota.</a:t>
            </a:r>
          </a:p>
        </p:txBody>
      </p:sp>
      <p:sp>
        <p:nvSpPr>
          <p:cNvPr name="TextBox 30" id="30"/>
          <p:cNvSpPr txBox="true"/>
          <p:nvPr/>
        </p:nvSpPr>
        <p:spPr>
          <a:xfrm rot="0">
            <a:off x="3905442" y="7300833"/>
            <a:ext cx="3376700" cy="412750"/>
          </a:xfrm>
          <a:prstGeom prst="rect">
            <a:avLst/>
          </a:prstGeom>
        </p:spPr>
        <p:txBody>
          <a:bodyPr anchor="t" rtlCol="false" tIns="0" lIns="0" bIns="0" rIns="0">
            <a:spAutoFit/>
          </a:bodyPr>
          <a:lstStyle/>
          <a:p>
            <a:pPr algn="l">
              <a:lnSpc>
                <a:spcPts val="3499"/>
              </a:lnSpc>
            </a:pPr>
            <a:r>
              <a:rPr lang="en-US" sz="2499">
                <a:solidFill>
                  <a:srgbClr val="37284D"/>
                </a:solidFill>
                <a:latin typeface="Scope One"/>
                <a:ea typeface="Scope One"/>
                <a:cs typeface="Scope One"/>
                <a:sym typeface="Scope One"/>
              </a:rPr>
              <a:t>Operasi 2-opt</a:t>
            </a:r>
          </a:p>
        </p:txBody>
      </p:sp>
      <p:grpSp>
        <p:nvGrpSpPr>
          <p:cNvPr name="Group 31" id="31"/>
          <p:cNvGrpSpPr/>
          <p:nvPr/>
        </p:nvGrpSpPr>
        <p:grpSpPr>
          <a:xfrm rot="0">
            <a:off x="3288311" y="7304329"/>
            <a:ext cx="443858" cy="443858"/>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8B9E8"/>
            </a:solidFill>
          </p:spPr>
        </p:sp>
        <p:sp>
          <p:nvSpPr>
            <p:cNvPr name="TextBox 33" id="33"/>
            <p:cNvSpPr txBox="true"/>
            <p:nvPr/>
          </p:nvSpPr>
          <p:spPr>
            <a:xfrm>
              <a:off x="76200" y="38100"/>
              <a:ext cx="660400" cy="698500"/>
            </a:xfrm>
            <a:prstGeom prst="rect">
              <a:avLst/>
            </a:prstGeom>
          </p:spPr>
          <p:txBody>
            <a:bodyPr anchor="ctr" rtlCol="false" tIns="50800" lIns="50800" bIns="50800" rIns="50800"/>
            <a:lstStyle/>
            <a:p>
              <a:pPr algn="ctr">
                <a:lnSpc>
                  <a:spcPts val="3499"/>
                </a:lnSpc>
              </a:pPr>
            </a:p>
          </p:txBody>
        </p:sp>
      </p:grpSp>
      <p:sp>
        <p:nvSpPr>
          <p:cNvPr name="TextBox 34" id="34"/>
          <p:cNvSpPr txBox="true"/>
          <p:nvPr/>
        </p:nvSpPr>
        <p:spPr>
          <a:xfrm rot="0">
            <a:off x="3348363" y="7300833"/>
            <a:ext cx="323754" cy="412750"/>
          </a:xfrm>
          <a:prstGeom prst="rect">
            <a:avLst/>
          </a:prstGeom>
        </p:spPr>
        <p:txBody>
          <a:bodyPr anchor="t" rtlCol="false" tIns="0" lIns="0" bIns="0" rIns="0">
            <a:spAutoFit/>
          </a:bodyPr>
          <a:lstStyle/>
          <a:p>
            <a:pPr algn="ctr">
              <a:lnSpc>
                <a:spcPts val="3499"/>
              </a:lnSpc>
            </a:pPr>
            <a:r>
              <a:rPr lang="en-US" sz="2499">
                <a:solidFill>
                  <a:srgbClr val="37284D"/>
                </a:solidFill>
                <a:latin typeface="Scope One"/>
                <a:ea typeface="Scope One"/>
                <a:cs typeface="Scope One"/>
                <a:sym typeface="Scope One"/>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AF8FC"/>
        </a:solidFill>
      </p:bgPr>
    </p:bg>
    <p:spTree>
      <p:nvGrpSpPr>
        <p:cNvPr id="1" name=""/>
        <p:cNvGrpSpPr/>
        <p:nvPr/>
      </p:nvGrpSpPr>
      <p:grpSpPr>
        <a:xfrm>
          <a:off x="0" y="0"/>
          <a:ext cx="0" cy="0"/>
          <a:chOff x="0" y="0"/>
          <a:chExt cx="0" cy="0"/>
        </a:xfrm>
      </p:grpSpPr>
      <p:sp>
        <p:nvSpPr>
          <p:cNvPr name="Freeform 2" id="2"/>
          <p:cNvSpPr/>
          <p:nvPr/>
        </p:nvSpPr>
        <p:spPr>
          <a:xfrm flipH="true" flipV="true" rot="0">
            <a:off x="12710463" y="-258731"/>
            <a:ext cx="6258139" cy="4585509"/>
          </a:xfrm>
          <a:custGeom>
            <a:avLst/>
            <a:gdLst/>
            <a:ahLst/>
            <a:cxnLst/>
            <a:rect r="r" b="b" t="t" l="l"/>
            <a:pathLst>
              <a:path h="4585509" w="6258139">
                <a:moveTo>
                  <a:pt x="6258139" y="4585509"/>
                </a:moveTo>
                <a:lnTo>
                  <a:pt x="0" y="4585509"/>
                </a:lnTo>
                <a:lnTo>
                  <a:pt x="0" y="0"/>
                </a:lnTo>
                <a:lnTo>
                  <a:pt x="6258139" y="0"/>
                </a:lnTo>
                <a:lnTo>
                  <a:pt x="6258139" y="458550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9747073">
            <a:off x="-798611" y="6795649"/>
            <a:ext cx="4006919" cy="5323202"/>
          </a:xfrm>
          <a:custGeom>
            <a:avLst/>
            <a:gdLst/>
            <a:ahLst/>
            <a:cxnLst/>
            <a:rect r="r" b="b" t="t" l="l"/>
            <a:pathLst>
              <a:path h="5323202" w="4006919">
                <a:moveTo>
                  <a:pt x="0" y="0"/>
                </a:moveTo>
                <a:lnTo>
                  <a:pt x="4006919" y="0"/>
                </a:lnTo>
                <a:lnTo>
                  <a:pt x="4006919" y="5323202"/>
                </a:lnTo>
                <a:lnTo>
                  <a:pt x="0" y="53232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6679855" y="8359929"/>
            <a:ext cx="1141968" cy="654774"/>
          </a:xfrm>
          <a:custGeom>
            <a:avLst/>
            <a:gdLst/>
            <a:ahLst/>
            <a:cxnLst/>
            <a:rect r="r" b="b" t="t" l="l"/>
            <a:pathLst>
              <a:path h="654774" w="1141968">
                <a:moveTo>
                  <a:pt x="0" y="0"/>
                </a:moveTo>
                <a:lnTo>
                  <a:pt x="1141967" y="0"/>
                </a:lnTo>
                <a:lnTo>
                  <a:pt x="1141967" y="654774"/>
                </a:lnTo>
                <a:lnTo>
                  <a:pt x="0" y="654774"/>
                </a:lnTo>
                <a:lnTo>
                  <a:pt x="0" y="0"/>
                </a:lnTo>
                <a:close/>
              </a:path>
            </a:pathLst>
          </a:custGeom>
          <a:blipFill>
            <a:blip r:embed="rId6">
              <a:extLst>
                <a:ext uri="{96DAC541-7B7A-43D3-8B79-37D633B846F1}">
                  <asvg:svgBlip xmlns:asvg="http://schemas.microsoft.com/office/drawing/2016/SVG/main" r:embed="rId7"/>
                </a:ext>
              </a:extLst>
            </a:blip>
            <a:stretch>
              <a:fillRect l="0" t="-74406" r="0" b="0"/>
            </a:stretch>
          </a:blipFill>
        </p:spPr>
      </p:sp>
      <p:sp>
        <p:nvSpPr>
          <p:cNvPr name="Freeform 5" id="5"/>
          <p:cNvSpPr/>
          <p:nvPr/>
        </p:nvSpPr>
        <p:spPr>
          <a:xfrm flipH="false" flipV="false" rot="0">
            <a:off x="692851" y="1028700"/>
            <a:ext cx="671697" cy="2515292"/>
          </a:xfrm>
          <a:custGeom>
            <a:avLst/>
            <a:gdLst/>
            <a:ahLst/>
            <a:cxnLst/>
            <a:rect r="r" b="b" t="t" l="l"/>
            <a:pathLst>
              <a:path h="2515292" w="671697">
                <a:moveTo>
                  <a:pt x="0" y="0"/>
                </a:moveTo>
                <a:lnTo>
                  <a:pt x="671698" y="0"/>
                </a:lnTo>
                <a:lnTo>
                  <a:pt x="671698" y="2515292"/>
                </a:lnTo>
                <a:lnTo>
                  <a:pt x="0" y="25152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10800000">
            <a:off x="1610239" y="9133255"/>
            <a:ext cx="2642832" cy="1033107"/>
          </a:xfrm>
          <a:custGeom>
            <a:avLst/>
            <a:gdLst/>
            <a:ahLst/>
            <a:cxnLst/>
            <a:rect r="r" b="b" t="t" l="l"/>
            <a:pathLst>
              <a:path h="1033107" w="2642832">
                <a:moveTo>
                  <a:pt x="0" y="0"/>
                </a:moveTo>
                <a:lnTo>
                  <a:pt x="2642832" y="0"/>
                </a:lnTo>
                <a:lnTo>
                  <a:pt x="2642832" y="1033108"/>
                </a:lnTo>
                <a:lnTo>
                  <a:pt x="0" y="103310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4020463" y="4127308"/>
            <a:ext cx="10471739" cy="3599660"/>
          </a:xfrm>
          <a:custGeom>
            <a:avLst/>
            <a:gdLst/>
            <a:ahLst/>
            <a:cxnLst/>
            <a:rect r="r" b="b" t="t" l="l"/>
            <a:pathLst>
              <a:path h="3599660" w="10471739">
                <a:moveTo>
                  <a:pt x="0" y="0"/>
                </a:moveTo>
                <a:lnTo>
                  <a:pt x="10471739" y="0"/>
                </a:lnTo>
                <a:lnTo>
                  <a:pt x="10471739" y="3599660"/>
                </a:lnTo>
                <a:lnTo>
                  <a:pt x="0" y="3599660"/>
                </a:lnTo>
                <a:lnTo>
                  <a:pt x="0" y="0"/>
                </a:lnTo>
                <a:close/>
              </a:path>
            </a:pathLst>
          </a:custGeom>
          <a:blipFill>
            <a:blip r:embed="rId12"/>
            <a:stretch>
              <a:fillRect l="0" t="0" r="0" b="0"/>
            </a:stretch>
          </a:blipFill>
        </p:spPr>
      </p:sp>
      <p:sp>
        <p:nvSpPr>
          <p:cNvPr name="TextBox 8" id="8"/>
          <p:cNvSpPr txBox="true"/>
          <p:nvPr/>
        </p:nvSpPr>
        <p:spPr>
          <a:xfrm rot="0">
            <a:off x="3291897" y="533025"/>
            <a:ext cx="11704206" cy="1377949"/>
          </a:xfrm>
          <a:prstGeom prst="rect">
            <a:avLst/>
          </a:prstGeom>
        </p:spPr>
        <p:txBody>
          <a:bodyPr anchor="t" rtlCol="false" tIns="0" lIns="0" bIns="0" rIns="0">
            <a:spAutoFit/>
          </a:bodyPr>
          <a:lstStyle/>
          <a:p>
            <a:pPr algn="ctr">
              <a:lnSpc>
                <a:spcPts val="11200"/>
              </a:lnSpc>
            </a:pPr>
            <a:r>
              <a:rPr lang="en-US" sz="8000">
                <a:solidFill>
                  <a:srgbClr val="37284D"/>
                </a:solidFill>
                <a:latin typeface="Fredoka"/>
                <a:ea typeface="Fredoka"/>
                <a:cs typeface="Fredoka"/>
                <a:sym typeface="Fredoka"/>
              </a:rPr>
              <a:t>GENETIC ALGORITHM</a:t>
            </a:r>
          </a:p>
        </p:txBody>
      </p:sp>
      <p:sp>
        <p:nvSpPr>
          <p:cNvPr name="TextBox 9" id="9"/>
          <p:cNvSpPr txBox="true"/>
          <p:nvPr/>
        </p:nvSpPr>
        <p:spPr>
          <a:xfrm rot="0">
            <a:off x="3795798" y="1995924"/>
            <a:ext cx="3773203" cy="412750"/>
          </a:xfrm>
          <a:prstGeom prst="rect">
            <a:avLst/>
          </a:prstGeom>
        </p:spPr>
        <p:txBody>
          <a:bodyPr anchor="t" rtlCol="false" tIns="0" lIns="0" bIns="0" rIns="0">
            <a:spAutoFit/>
          </a:bodyPr>
          <a:lstStyle/>
          <a:p>
            <a:pPr algn="l">
              <a:lnSpc>
                <a:spcPts val="3499"/>
              </a:lnSpc>
            </a:pPr>
            <a:r>
              <a:rPr lang="en-US" sz="2499">
                <a:solidFill>
                  <a:srgbClr val="37284D"/>
                </a:solidFill>
                <a:latin typeface="Scope One"/>
                <a:ea typeface="Scope One"/>
                <a:cs typeface="Scope One"/>
                <a:sym typeface="Scope One"/>
              </a:rPr>
              <a:t>Representasi Kromosom</a:t>
            </a:r>
          </a:p>
        </p:txBody>
      </p:sp>
      <p:sp>
        <p:nvSpPr>
          <p:cNvPr name="TextBox 10" id="10"/>
          <p:cNvSpPr txBox="true"/>
          <p:nvPr/>
        </p:nvSpPr>
        <p:spPr>
          <a:xfrm rot="0">
            <a:off x="3795798" y="2618224"/>
            <a:ext cx="9500464" cy="850900"/>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37284D"/>
                </a:solidFill>
                <a:latin typeface="Scope One"/>
                <a:ea typeface="Scope One"/>
                <a:cs typeface="Scope One"/>
                <a:sym typeface="Scope One"/>
              </a:rPr>
              <a:t>Setiap kromosom merepresentasikan urutan kunjungan kota.</a:t>
            </a:r>
          </a:p>
          <a:p>
            <a:pPr algn="l" marL="539749" indent="-269875" lvl="1">
              <a:lnSpc>
                <a:spcPts val="3499"/>
              </a:lnSpc>
              <a:buFont typeface="Arial"/>
              <a:buChar char="•"/>
            </a:pPr>
            <a:r>
              <a:rPr lang="en-US" sz="2499">
                <a:solidFill>
                  <a:srgbClr val="37284D"/>
                </a:solidFill>
                <a:latin typeface="Scope One"/>
                <a:ea typeface="Scope One"/>
                <a:cs typeface="Scope One"/>
                <a:sym typeface="Scope One"/>
              </a:rPr>
              <a:t>Tujuan: meminimalkan total jarak perjalanan.</a:t>
            </a:r>
          </a:p>
        </p:txBody>
      </p:sp>
      <p:sp>
        <p:nvSpPr>
          <p:cNvPr name="TextBox 11" id="11"/>
          <p:cNvSpPr txBox="true"/>
          <p:nvPr/>
        </p:nvSpPr>
        <p:spPr>
          <a:xfrm rot="0">
            <a:off x="3795798" y="3678674"/>
            <a:ext cx="3773203" cy="412750"/>
          </a:xfrm>
          <a:prstGeom prst="rect">
            <a:avLst/>
          </a:prstGeom>
        </p:spPr>
        <p:txBody>
          <a:bodyPr anchor="t" rtlCol="false" tIns="0" lIns="0" bIns="0" rIns="0">
            <a:spAutoFit/>
          </a:bodyPr>
          <a:lstStyle/>
          <a:p>
            <a:pPr algn="l">
              <a:lnSpc>
                <a:spcPts val="3499"/>
              </a:lnSpc>
            </a:pPr>
            <a:r>
              <a:rPr lang="en-US" sz="2499">
                <a:solidFill>
                  <a:srgbClr val="37284D"/>
                </a:solidFill>
                <a:latin typeface="Scope One"/>
                <a:ea typeface="Scope One"/>
                <a:cs typeface="Scope One"/>
                <a:sym typeface="Scope One"/>
              </a:rPr>
              <a:t>Operator Genetika</a:t>
            </a:r>
          </a:p>
        </p:txBody>
      </p:sp>
      <p:sp>
        <p:nvSpPr>
          <p:cNvPr name="TextBox 12" id="12"/>
          <p:cNvSpPr txBox="true"/>
          <p:nvPr/>
        </p:nvSpPr>
        <p:spPr>
          <a:xfrm rot="0">
            <a:off x="3795798" y="7936518"/>
            <a:ext cx="3773203" cy="412750"/>
          </a:xfrm>
          <a:prstGeom prst="rect">
            <a:avLst/>
          </a:prstGeom>
        </p:spPr>
        <p:txBody>
          <a:bodyPr anchor="t" rtlCol="false" tIns="0" lIns="0" bIns="0" rIns="0">
            <a:spAutoFit/>
          </a:bodyPr>
          <a:lstStyle/>
          <a:p>
            <a:pPr algn="l">
              <a:lnSpc>
                <a:spcPts val="3499"/>
              </a:lnSpc>
            </a:pPr>
            <a:r>
              <a:rPr lang="en-US" sz="2499">
                <a:solidFill>
                  <a:srgbClr val="37284D"/>
                </a:solidFill>
                <a:latin typeface="Scope One"/>
                <a:ea typeface="Scope One"/>
                <a:cs typeface="Scope One"/>
                <a:sym typeface="Scope One"/>
              </a:rPr>
              <a:t>Parameter Eksperimen</a:t>
            </a:r>
          </a:p>
        </p:txBody>
      </p:sp>
      <p:sp>
        <p:nvSpPr>
          <p:cNvPr name="TextBox 13" id="13"/>
          <p:cNvSpPr txBox="true"/>
          <p:nvPr/>
        </p:nvSpPr>
        <p:spPr>
          <a:xfrm rot="0">
            <a:off x="3795798" y="8407400"/>
            <a:ext cx="6130191" cy="850900"/>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37284D"/>
                </a:solidFill>
                <a:latin typeface="Scope One"/>
                <a:ea typeface="Scope One"/>
                <a:cs typeface="Scope One"/>
                <a:sym typeface="Scope One"/>
              </a:rPr>
              <a:t>Ukuran Populasi : 100 </a:t>
            </a:r>
          </a:p>
          <a:p>
            <a:pPr algn="l" marL="539749" indent="-269875" lvl="1">
              <a:lnSpc>
                <a:spcPts val="3499"/>
              </a:lnSpc>
              <a:buFont typeface="Arial"/>
              <a:buChar char="•"/>
            </a:pPr>
            <a:r>
              <a:rPr lang="en-US" sz="2499">
                <a:solidFill>
                  <a:srgbClr val="37284D"/>
                </a:solidFill>
                <a:latin typeface="Scope One"/>
                <a:ea typeface="Scope One"/>
                <a:cs typeface="Scope One"/>
                <a:sym typeface="Scope One"/>
              </a:rPr>
              <a:t>Anggaran Evaluasi : 50.000</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AF8FC"/>
        </a:solidFill>
      </p:bgPr>
    </p:bg>
    <p:spTree>
      <p:nvGrpSpPr>
        <p:cNvPr id="1" name=""/>
        <p:cNvGrpSpPr/>
        <p:nvPr/>
      </p:nvGrpSpPr>
      <p:grpSpPr>
        <a:xfrm>
          <a:off x="0" y="0"/>
          <a:ext cx="0" cy="0"/>
          <a:chOff x="0" y="0"/>
          <a:chExt cx="0" cy="0"/>
        </a:xfrm>
      </p:grpSpPr>
      <p:sp>
        <p:nvSpPr>
          <p:cNvPr name="Freeform 2" id="2"/>
          <p:cNvSpPr/>
          <p:nvPr/>
        </p:nvSpPr>
        <p:spPr>
          <a:xfrm flipH="true" flipV="true" rot="0">
            <a:off x="12710463" y="-258731"/>
            <a:ext cx="6258139" cy="4585509"/>
          </a:xfrm>
          <a:custGeom>
            <a:avLst/>
            <a:gdLst/>
            <a:ahLst/>
            <a:cxnLst/>
            <a:rect r="r" b="b" t="t" l="l"/>
            <a:pathLst>
              <a:path h="4585509" w="6258139">
                <a:moveTo>
                  <a:pt x="6258139" y="4585509"/>
                </a:moveTo>
                <a:lnTo>
                  <a:pt x="0" y="4585509"/>
                </a:lnTo>
                <a:lnTo>
                  <a:pt x="0" y="0"/>
                </a:lnTo>
                <a:lnTo>
                  <a:pt x="6258139" y="0"/>
                </a:lnTo>
                <a:lnTo>
                  <a:pt x="6258139" y="458550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9747073">
            <a:off x="-798611" y="6795649"/>
            <a:ext cx="4006919" cy="5323202"/>
          </a:xfrm>
          <a:custGeom>
            <a:avLst/>
            <a:gdLst/>
            <a:ahLst/>
            <a:cxnLst/>
            <a:rect r="r" b="b" t="t" l="l"/>
            <a:pathLst>
              <a:path h="5323202" w="4006919">
                <a:moveTo>
                  <a:pt x="0" y="0"/>
                </a:moveTo>
                <a:lnTo>
                  <a:pt x="4006919" y="0"/>
                </a:lnTo>
                <a:lnTo>
                  <a:pt x="4006919" y="5323202"/>
                </a:lnTo>
                <a:lnTo>
                  <a:pt x="0" y="53232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6679855" y="8359929"/>
            <a:ext cx="1141968" cy="654774"/>
          </a:xfrm>
          <a:custGeom>
            <a:avLst/>
            <a:gdLst/>
            <a:ahLst/>
            <a:cxnLst/>
            <a:rect r="r" b="b" t="t" l="l"/>
            <a:pathLst>
              <a:path h="654774" w="1141968">
                <a:moveTo>
                  <a:pt x="0" y="0"/>
                </a:moveTo>
                <a:lnTo>
                  <a:pt x="1141967" y="0"/>
                </a:lnTo>
                <a:lnTo>
                  <a:pt x="1141967" y="654774"/>
                </a:lnTo>
                <a:lnTo>
                  <a:pt x="0" y="654774"/>
                </a:lnTo>
                <a:lnTo>
                  <a:pt x="0" y="0"/>
                </a:lnTo>
                <a:close/>
              </a:path>
            </a:pathLst>
          </a:custGeom>
          <a:blipFill>
            <a:blip r:embed="rId6">
              <a:extLst>
                <a:ext uri="{96DAC541-7B7A-43D3-8B79-37D633B846F1}">
                  <asvg:svgBlip xmlns:asvg="http://schemas.microsoft.com/office/drawing/2016/SVG/main" r:embed="rId7"/>
                </a:ext>
              </a:extLst>
            </a:blip>
            <a:stretch>
              <a:fillRect l="0" t="-74406" r="0" b="0"/>
            </a:stretch>
          </a:blipFill>
        </p:spPr>
      </p:sp>
      <p:sp>
        <p:nvSpPr>
          <p:cNvPr name="Freeform 5" id="5"/>
          <p:cNvSpPr/>
          <p:nvPr/>
        </p:nvSpPr>
        <p:spPr>
          <a:xfrm flipH="false" flipV="false" rot="0">
            <a:off x="692851" y="1028700"/>
            <a:ext cx="671697" cy="2515292"/>
          </a:xfrm>
          <a:custGeom>
            <a:avLst/>
            <a:gdLst/>
            <a:ahLst/>
            <a:cxnLst/>
            <a:rect r="r" b="b" t="t" l="l"/>
            <a:pathLst>
              <a:path h="2515292" w="671697">
                <a:moveTo>
                  <a:pt x="0" y="0"/>
                </a:moveTo>
                <a:lnTo>
                  <a:pt x="671698" y="0"/>
                </a:lnTo>
                <a:lnTo>
                  <a:pt x="671698" y="2515292"/>
                </a:lnTo>
                <a:lnTo>
                  <a:pt x="0" y="25152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10800000">
            <a:off x="1610239" y="9133255"/>
            <a:ext cx="2642832" cy="1033107"/>
          </a:xfrm>
          <a:custGeom>
            <a:avLst/>
            <a:gdLst/>
            <a:ahLst/>
            <a:cxnLst/>
            <a:rect r="r" b="b" t="t" l="l"/>
            <a:pathLst>
              <a:path h="1033107" w="2642832">
                <a:moveTo>
                  <a:pt x="0" y="0"/>
                </a:moveTo>
                <a:lnTo>
                  <a:pt x="2642832" y="0"/>
                </a:lnTo>
                <a:lnTo>
                  <a:pt x="2642832" y="1033108"/>
                </a:lnTo>
                <a:lnTo>
                  <a:pt x="0" y="103310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3899571" y="3279583"/>
            <a:ext cx="9500464" cy="3041650"/>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37284D"/>
                </a:solidFill>
                <a:latin typeface="Scope One"/>
                <a:ea typeface="Scope One"/>
                <a:cs typeface="Scope One"/>
                <a:sym typeface="Scope One"/>
              </a:rPr>
              <a:t>Pemilihan kota : Semut memilih kota berikutnya berdasarkan kekuatan feromon dan kedekatan jarak.</a:t>
            </a:r>
          </a:p>
          <a:p>
            <a:pPr algn="l" marL="539749" indent="-269875" lvl="1">
              <a:lnSpc>
                <a:spcPts val="3499"/>
              </a:lnSpc>
              <a:buFont typeface="Arial"/>
              <a:buChar char="•"/>
            </a:pPr>
            <a:r>
              <a:rPr lang="en-US" sz="2499">
                <a:solidFill>
                  <a:srgbClr val="37284D"/>
                </a:solidFill>
                <a:latin typeface="Scope One"/>
                <a:ea typeface="Scope One"/>
                <a:cs typeface="Scope One"/>
                <a:sym typeface="Scope One"/>
              </a:rPr>
              <a:t>Penguapan : Feromon berkurang agar algoritma tidak terlalu terpaku pada jalur yang telah ditemukan sebelumnya.</a:t>
            </a:r>
          </a:p>
          <a:p>
            <a:pPr algn="l" marL="539749" indent="-269875" lvl="1">
              <a:lnSpc>
                <a:spcPts val="3499"/>
              </a:lnSpc>
              <a:buFont typeface="Arial"/>
              <a:buChar char="•"/>
            </a:pPr>
            <a:r>
              <a:rPr lang="en-US" sz="2499">
                <a:solidFill>
                  <a:srgbClr val="37284D"/>
                </a:solidFill>
                <a:latin typeface="Scope One"/>
                <a:ea typeface="Scope One"/>
                <a:cs typeface="Scope One"/>
                <a:sym typeface="Scope One"/>
              </a:rPr>
              <a:t>Pembaruan Feromon : Semut menambahkan feromon pada jalur yang dilalui. Rute yang lebih pendek memberikan tambahan feromon lebih besar.</a:t>
            </a:r>
          </a:p>
        </p:txBody>
      </p:sp>
      <p:grpSp>
        <p:nvGrpSpPr>
          <p:cNvPr name="Group 8" id="8"/>
          <p:cNvGrpSpPr/>
          <p:nvPr/>
        </p:nvGrpSpPr>
        <p:grpSpPr>
          <a:xfrm rot="0">
            <a:off x="10561645" y="6549319"/>
            <a:ext cx="5002530" cy="2353856"/>
            <a:chOff x="0" y="0"/>
            <a:chExt cx="1317539" cy="619946"/>
          </a:xfrm>
        </p:grpSpPr>
        <p:sp>
          <p:nvSpPr>
            <p:cNvPr name="Freeform 9" id="9"/>
            <p:cNvSpPr/>
            <p:nvPr/>
          </p:nvSpPr>
          <p:spPr>
            <a:xfrm flipH="false" flipV="false" rot="0">
              <a:off x="0" y="0"/>
              <a:ext cx="1317539" cy="619946"/>
            </a:xfrm>
            <a:custGeom>
              <a:avLst/>
              <a:gdLst/>
              <a:ahLst/>
              <a:cxnLst/>
              <a:rect r="r" b="b" t="t" l="l"/>
              <a:pathLst>
                <a:path h="619946" w="1317539">
                  <a:moveTo>
                    <a:pt x="78928" y="0"/>
                  </a:moveTo>
                  <a:lnTo>
                    <a:pt x="1238611" y="0"/>
                  </a:lnTo>
                  <a:cubicBezTo>
                    <a:pt x="1259544" y="0"/>
                    <a:pt x="1279620" y="8316"/>
                    <a:pt x="1294421" y="23117"/>
                  </a:cubicBezTo>
                  <a:cubicBezTo>
                    <a:pt x="1309223" y="37919"/>
                    <a:pt x="1317539" y="57995"/>
                    <a:pt x="1317539" y="78928"/>
                  </a:cubicBezTo>
                  <a:lnTo>
                    <a:pt x="1317539" y="541018"/>
                  </a:lnTo>
                  <a:cubicBezTo>
                    <a:pt x="1317539" y="584609"/>
                    <a:pt x="1282202" y="619946"/>
                    <a:pt x="1238611" y="619946"/>
                  </a:cubicBezTo>
                  <a:lnTo>
                    <a:pt x="78928" y="619946"/>
                  </a:lnTo>
                  <a:cubicBezTo>
                    <a:pt x="57995" y="619946"/>
                    <a:pt x="37919" y="611630"/>
                    <a:pt x="23117" y="596828"/>
                  </a:cubicBezTo>
                  <a:cubicBezTo>
                    <a:pt x="8316" y="582026"/>
                    <a:pt x="0" y="561951"/>
                    <a:pt x="0" y="541018"/>
                  </a:cubicBezTo>
                  <a:lnTo>
                    <a:pt x="0" y="78928"/>
                  </a:lnTo>
                  <a:cubicBezTo>
                    <a:pt x="0" y="57995"/>
                    <a:pt x="8316" y="37919"/>
                    <a:pt x="23117" y="23117"/>
                  </a:cubicBezTo>
                  <a:cubicBezTo>
                    <a:pt x="37919" y="8316"/>
                    <a:pt x="57995" y="0"/>
                    <a:pt x="78928" y="0"/>
                  </a:cubicBezTo>
                  <a:close/>
                </a:path>
              </a:pathLst>
            </a:custGeom>
            <a:solidFill>
              <a:srgbClr val="C8D1D9"/>
            </a:solidFill>
          </p:spPr>
        </p:sp>
        <p:sp>
          <p:nvSpPr>
            <p:cNvPr name="TextBox 10" id="10"/>
            <p:cNvSpPr txBox="true"/>
            <p:nvPr/>
          </p:nvSpPr>
          <p:spPr>
            <a:xfrm>
              <a:off x="0" y="-38100"/>
              <a:ext cx="1317539" cy="658046"/>
            </a:xfrm>
            <a:prstGeom prst="rect">
              <a:avLst/>
            </a:prstGeom>
          </p:spPr>
          <p:txBody>
            <a:bodyPr anchor="ctr" rtlCol="false" tIns="50800" lIns="50800" bIns="50800" rIns="50800"/>
            <a:lstStyle/>
            <a:p>
              <a:pPr algn="ctr">
                <a:lnSpc>
                  <a:spcPts val="2940"/>
                </a:lnSpc>
              </a:pPr>
              <a:r>
                <a:rPr lang="en-US" sz="2100">
                  <a:solidFill>
                    <a:srgbClr val="000000"/>
                  </a:solidFill>
                  <a:latin typeface="Scope One"/>
                  <a:ea typeface="Scope One"/>
                  <a:cs typeface="Scope One"/>
                  <a:sym typeface="Scope One"/>
                </a:rPr>
                <a:t>Mengapa memakai ACO, bukan PSO?</a:t>
              </a:r>
              <a:r>
                <a:rPr lang="en-US" sz="2100">
                  <a:solidFill>
                    <a:srgbClr val="000000"/>
                  </a:solidFill>
                  <a:latin typeface="Scope One"/>
                  <a:ea typeface="Scope One"/>
                  <a:cs typeface="Scope One"/>
                  <a:sym typeface="Scope One"/>
                </a:rPr>
                <a:t> </a:t>
              </a:r>
            </a:p>
            <a:p>
              <a:pPr algn="ctr">
                <a:lnSpc>
                  <a:spcPts val="2940"/>
                </a:lnSpc>
              </a:pPr>
              <a:r>
                <a:rPr lang="en-US" sz="2100">
                  <a:solidFill>
                    <a:srgbClr val="000000"/>
                  </a:solidFill>
                  <a:latin typeface="Scope One"/>
                  <a:ea typeface="Scope One"/>
                  <a:cs typeface="Scope One"/>
                  <a:sym typeface="Scope One"/>
                </a:rPr>
                <a:t>Karena TSP merupakan masalah optimasi diskret berbasis permutasi dan graf, sedangkan ACO secara alami membangun rute dengan memilih simpul berikutnya.</a:t>
              </a:r>
            </a:p>
          </p:txBody>
        </p:sp>
      </p:grpSp>
      <p:sp>
        <p:nvSpPr>
          <p:cNvPr name="Freeform 11" id="11"/>
          <p:cNvSpPr/>
          <p:nvPr/>
        </p:nvSpPr>
        <p:spPr>
          <a:xfrm flipH="false" flipV="false" rot="0">
            <a:off x="13882148" y="3849845"/>
            <a:ext cx="3364053" cy="1491094"/>
          </a:xfrm>
          <a:custGeom>
            <a:avLst/>
            <a:gdLst/>
            <a:ahLst/>
            <a:cxnLst/>
            <a:rect r="r" b="b" t="t" l="l"/>
            <a:pathLst>
              <a:path h="1491094" w="3364053">
                <a:moveTo>
                  <a:pt x="0" y="0"/>
                </a:moveTo>
                <a:lnTo>
                  <a:pt x="3364053" y="0"/>
                </a:lnTo>
                <a:lnTo>
                  <a:pt x="3364053" y="1491093"/>
                </a:lnTo>
                <a:lnTo>
                  <a:pt x="0" y="1491093"/>
                </a:lnTo>
                <a:lnTo>
                  <a:pt x="0" y="0"/>
                </a:lnTo>
                <a:close/>
              </a:path>
            </a:pathLst>
          </a:custGeom>
          <a:blipFill>
            <a:blip r:embed="rId12"/>
            <a:stretch>
              <a:fillRect l="0" t="0" r="0" b="0"/>
            </a:stretch>
          </a:blipFill>
        </p:spPr>
      </p:sp>
      <p:sp>
        <p:nvSpPr>
          <p:cNvPr name="TextBox 12" id="12"/>
          <p:cNvSpPr txBox="true"/>
          <p:nvPr/>
        </p:nvSpPr>
        <p:spPr>
          <a:xfrm rot="0">
            <a:off x="4107119" y="1279050"/>
            <a:ext cx="10281310" cy="968211"/>
          </a:xfrm>
          <a:prstGeom prst="rect">
            <a:avLst/>
          </a:prstGeom>
        </p:spPr>
        <p:txBody>
          <a:bodyPr anchor="t" rtlCol="false" tIns="0" lIns="0" bIns="0" rIns="0">
            <a:spAutoFit/>
          </a:bodyPr>
          <a:lstStyle/>
          <a:p>
            <a:pPr algn="ctr">
              <a:lnSpc>
                <a:spcPts val="7952"/>
              </a:lnSpc>
            </a:pPr>
            <a:r>
              <a:rPr lang="en-US" sz="5680">
                <a:solidFill>
                  <a:srgbClr val="37284D"/>
                </a:solidFill>
                <a:latin typeface="Fredoka"/>
                <a:ea typeface="Fredoka"/>
                <a:cs typeface="Fredoka"/>
                <a:sym typeface="Fredoka"/>
              </a:rPr>
              <a:t>ANT COLONY OPTIMIZATION </a:t>
            </a:r>
          </a:p>
        </p:txBody>
      </p:sp>
      <p:sp>
        <p:nvSpPr>
          <p:cNvPr name="TextBox 13" id="13"/>
          <p:cNvSpPr txBox="true"/>
          <p:nvPr/>
        </p:nvSpPr>
        <p:spPr>
          <a:xfrm rot="0">
            <a:off x="3899571" y="2782767"/>
            <a:ext cx="3773203" cy="412750"/>
          </a:xfrm>
          <a:prstGeom prst="rect">
            <a:avLst/>
          </a:prstGeom>
        </p:spPr>
        <p:txBody>
          <a:bodyPr anchor="t" rtlCol="false" tIns="0" lIns="0" bIns="0" rIns="0">
            <a:spAutoFit/>
          </a:bodyPr>
          <a:lstStyle/>
          <a:p>
            <a:pPr algn="l">
              <a:lnSpc>
                <a:spcPts val="3499"/>
              </a:lnSpc>
            </a:pPr>
            <a:r>
              <a:rPr lang="en-US" sz="2499">
                <a:solidFill>
                  <a:srgbClr val="37284D"/>
                </a:solidFill>
                <a:latin typeface="Scope One"/>
                <a:ea typeface="Scope One"/>
                <a:cs typeface="Scope One"/>
                <a:sym typeface="Scope One"/>
              </a:rPr>
              <a:t>Mekanisme Utama</a:t>
            </a:r>
          </a:p>
        </p:txBody>
      </p:sp>
      <p:sp>
        <p:nvSpPr>
          <p:cNvPr name="TextBox 14" id="14"/>
          <p:cNvSpPr txBox="true"/>
          <p:nvPr/>
        </p:nvSpPr>
        <p:spPr>
          <a:xfrm rot="0">
            <a:off x="3899571" y="6689533"/>
            <a:ext cx="3773203" cy="412750"/>
          </a:xfrm>
          <a:prstGeom prst="rect">
            <a:avLst/>
          </a:prstGeom>
        </p:spPr>
        <p:txBody>
          <a:bodyPr anchor="t" rtlCol="false" tIns="0" lIns="0" bIns="0" rIns="0">
            <a:spAutoFit/>
          </a:bodyPr>
          <a:lstStyle/>
          <a:p>
            <a:pPr algn="l">
              <a:lnSpc>
                <a:spcPts val="3499"/>
              </a:lnSpc>
            </a:pPr>
            <a:r>
              <a:rPr lang="en-US" sz="2499">
                <a:solidFill>
                  <a:srgbClr val="37284D"/>
                </a:solidFill>
                <a:latin typeface="Scope One"/>
                <a:ea typeface="Scope One"/>
                <a:cs typeface="Scope One"/>
                <a:sym typeface="Scope One"/>
              </a:rPr>
              <a:t>Parameter Eksperimen</a:t>
            </a:r>
          </a:p>
        </p:txBody>
      </p:sp>
      <p:sp>
        <p:nvSpPr>
          <p:cNvPr name="TextBox 15" id="15"/>
          <p:cNvSpPr txBox="true"/>
          <p:nvPr/>
        </p:nvSpPr>
        <p:spPr>
          <a:xfrm rot="0">
            <a:off x="3899571" y="7175975"/>
            <a:ext cx="6130191" cy="2165350"/>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37284D"/>
                </a:solidFill>
                <a:latin typeface="Scope One"/>
                <a:ea typeface="Scope One"/>
                <a:cs typeface="Scope One"/>
                <a:sym typeface="Scope One"/>
              </a:rPr>
              <a:t>Jumlah semut : 30</a:t>
            </a:r>
          </a:p>
          <a:p>
            <a:pPr algn="l" marL="539749" indent="-269875" lvl="1">
              <a:lnSpc>
                <a:spcPts val="3499"/>
              </a:lnSpc>
              <a:buFont typeface="Arial"/>
              <a:buChar char="•"/>
            </a:pPr>
            <a:r>
              <a:rPr lang="en-US" sz="2499">
                <a:solidFill>
                  <a:srgbClr val="37284D"/>
                </a:solidFill>
                <a:latin typeface="Scope One"/>
                <a:ea typeface="Scope One"/>
                <a:cs typeface="Scope One"/>
                <a:sym typeface="Scope One"/>
              </a:rPr>
              <a:t>Bobot feromon (α) : 1</a:t>
            </a:r>
          </a:p>
          <a:p>
            <a:pPr algn="l" marL="539749" indent="-269875" lvl="1">
              <a:lnSpc>
                <a:spcPts val="3499"/>
              </a:lnSpc>
              <a:buFont typeface="Arial"/>
              <a:buChar char="•"/>
            </a:pPr>
            <a:r>
              <a:rPr lang="en-US" sz="2499">
                <a:solidFill>
                  <a:srgbClr val="37284D"/>
                </a:solidFill>
                <a:latin typeface="Scope One"/>
                <a:ea typeface="Scope One"/>
                <a:cs typeface="Scope One"/>
                <a:sym typeface="Scope One"/>
              </a:rPr>
              <a:t>Bobot jarak (β) : 3</a:t>
            </a:r>
          </a:p>
          <a:p>
            <a:pPr algn="l" marL="539749" indent="-269875" lvl="1">
              <a:lnSpc>
                <a:spcPts val="3499"/>
              </a:lnSpc>
              <a:buFont typeface="Arial"/>
              <a:buChar char="•"/>
            </a:pPr>
            <a:r>
              <a:rPr lang="en-US" sz="2499">
                <a:solidFill>
                  <a:srgbClr val="37284D"/>
                </a:solidFill>
                <a:latin typeface="Scope One"/>
                <a:ea typeface="Scope One"/>
                <a:cs typeface="Scope One"/>
                <a:sym typeface="Scope One"/>
              </a:rPr>
              <a:t>Laju penguapan (ρ) : 0.5 </a:t>
            </a:r>
          </a:p>
          <a:p>
            <a:pPr algn="l" marL="539749" indent="-269875" lvl="1">
              <a:lnSpc>
                <a:spcPts val="3499"/>
              </a:lnSpc>
              <a:buFont typeface="Arial"/>
              <a:buChar char="•"/>
            </a:pPr>
            <a:r>
              <a:rPr lang="en-US" sz="2499">
                <a:solidFill>
                  <a:srgbClr val="37284D"/>
                </a:solidFill>
                <a:latin typeface="Scope One"/>
                <a:ea typeface="Scope One"/>
                <a:cs typeface="Scope One"/>
                <a:sym typeface="Scope One"/>
              </a:rPr>
              <a:t>Anggaran Evaluasi : 50.000</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AF8FC"/>
        </a:solidFill>
      </p:bgPr>
    </p:bg>
    <p:spTree>
      <p:nvGrpSpPr>
        <p:cNvPr id="1" name=""/>
        <p:cNvGrpSpPr/>
        <p:nvPr/>
      </p:nvGrpSpPr>
      <p:grpSpPr>
        <a:xfrm>
          <a:off x="0" y="0"/>
          <a:ext cx="0" cy="0"/>
          <a:chOff x="0" y="0"/>
          <a:chExt cx="0" cy="0"/>
        </a:xfrm>
      </p:grpSpPr>
      <p:sp>
        <p:nvSpPr>
          <p:cNvPr name="Freeform 2" id="2"/>
          <p:cNvSpPr/>
          <p:nvPr/>
        </p:nvSpPr>
        <p:spPr>
          <a:xfrm flipH="true" flipV="true" rot="0">
            <a:off x="12710463" y="-258731"/>
            <a:ext cx="6258139" cy="4585509"/>
          </a:xfrm>
          <a:custGeom>
            <a:avLst/>
            <a:gdLst/>
            <a:ahLst/>
            <a:cxnLst/>
            <a:rect r="r" b="b" t="t" l="l"/>
            <a:pathLst>
              <a:path h="4585509" w="6258139">
                <a:moveTo>
                  <a:pt x="6258139" y="4585509"/>
                </a:moveTo>
                <a:lnTo>
                  <a:pt x="0" y="4585509"/>
                </a:lnTo>
                <a:lnTo>
                  <a:pt x="0" y="0"/>
                </a:lnTo>
                <a:lnTo>
                  <a:pt x="6258139" y="0"/>
                </a:lnTo>
                <a:lnTo>
                  <a:pt x="6258139" y="458550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9747073">
            <a:off x="-798611" y="6795649"/>
            <a:ext cx="4006919" cy="5323202"/>
          </a:xfrm>
          <a:custGeom>
            <a:avLst/>
            <a:gdLst/>
            <a:ahLst/>
            <a:cxnLst/>
            <a:rect r="r" b="b" t="t" l="l"/>
            <a:pathLst>
              <a:path h="5323202" w="4006919">
                <a:moveTo>
                  <a:pt x="0" y="0"/>
                </a:moveTo>
                <a:lnTo>
                  <a:pt x="4006919" y="0"/>
                </a:lnTo>
                <a:lnTo>
                  <a:pt x="4006919" y="5323202"/>
                </a:lnTo>
                <a:lnTo>
                  <a:pt x="0" y="53232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6679855" y="8359929"/>
            <a:ext cx="1141968" cy="654774"/>
          </a:xfrm>
          <a:custGeom>
            <a:avLst/>
            <a:gdLst/>
            <a:ahLst/>
            <a:cxnLst/>
            <a:rect r="r" b="b" t="t" l="l"/>
            <a:pathLst>
              <a:path h="654774" w="1141968">
                <a:moveTo>
                  <a:pt x="0" y="0"/>
                </a:moveTo>
                <a:lnTo>
                  <a:pt x="1141967" y="0"/>
                </a:lnTo>
                <a:lnTo>
                  <a:pt x="1141967" y="654774"/>
                </a:lnTo>
                <a:lnTo>
                  <a:pt x="0" y="654774"/>
                </a:lnTo>
                <a:lnTo>
                  <a:pt x="0" y="0"/>
                </a:lnTo>
                <a:close/>
              </a:path>
            </a:pathLst>
          </a:custGeom>
          <a:blipFill>
            <a:blip r:embed="rId6">
              <a:extLst>
                <a:ext uri="{96DAC541-7B7A-43D3-8B79-37D633B846F1}">
                  <asvg:svgBlip xmlns:asvg="http://schemas.microsoft.com/office/drawing/2016/SVG/main" r:embed="rId7"/>
                </a:ext>
              </a:extLst>
            </a:blip>
            <a:stretch>
              <a:fillRect l="0" t="-74406" r="0" b="0"/>
            </a:stretch>
          </a:blipFill>
        </p:spPr>
      </p:sp>
      <p:sp>
        <p:nvSpPr>
          <p:cNvPr name="Freeform 5" id="5"/>
          <p:cNvSpPr/>
          <p:nvPr/>
        </p:nvSpPr>
        <p:spPr>
          <a:xfrm flipH="false" flipV="false" rot="0">
            <a:off x="692851" y="1028700"/>
            <a:ext cx="671697" cy="2515292"/>
          </a:xfrm>
          <a:custGeom>
            <a:avLst/>
            <a:gdLst/>
            <a:ahLst/>
            <a:cxnLst/>
            <a:rect r="r" b="b" t="t" l="l"/>
            <a:pathLst>
              <a:path h="2515292" w="671697">
                <a:moveTo>
                  <a:pt x="0" y="0"/>
                </a:moveTo>
                <a:lnTo>
                  <a:pt x="671698" y="0"/>
                </a:lnTo>
                <a:lnTo>
                  <a:pt x="671698" y="2515292"/>
                </a:lnTo>
                <a:lnTo>
                  <a:pt x="0" y="25152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10800000">
            <a:off x="1610239" y="9133255"/>
            <a:ext cx="2642832" cy="1033107"/>
          </a:xfrm>
          <a:custGeom>
            <a:avLst/>
            <a:gdLst/>
            <a:ahLst/>
            <a:cxnLst/>
            <a:rect r="r" b="b" t="t" l="l"/>
            <a:pathLst>
              <a:path h="1033107" w="2642832">
                <a:moveTo>
                  <a:pt x="0" y="0"/>
                </a:moveTo>
                <a:lnTo>
                  <a:pt x="2642832" y="0"/>
                </a:lnTo>
                <a:lnTo>
                  <a:pt x="2642832" y="1033108"/>
                </a:lnTo>
                <a:lnTo>
                  <a:pt x="0" y="103310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3899571" y="3279583"/>
            <a:ext cx="9500464" cy="3041650"/>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37284D"/>
                </a:solidFill>
                <a:latin typeface="Scope One"/>
                <a:ea typeface="Scope One"/>
                <a:cs typeface="Scope One"/>
                <a:sym typeface="Scope One"/>
              </a:rPr>
              <a:t>Menginisialisasi rute awal secara acak sebagai solusi saat ini.</a:t>
            </a:r>
          </a:p>
          <a:p>
            <a:pPr algn="l" marL="539749" indent="-269875" lvl="1">
              <a:lnSpc>
                <a:spcPts val="3499"/>
              </a:lnSpc>
              <a:buFont typeface="Arial"/>
              <a:buChar char="•"/>
            </a:pPr>
            <a:r>
              <a:rPr lang="en-US" sz="2499">
                <a:solidFill>
                  <a:srgbClr val="37284D"/>
                </a:solidFill>
                <a:latin typeface="Scope One"/>
                <a:ea typeface="Scope One"/>
                <a:cs typeface="Scope One"/>
                <a:sym typeface="Scope One"/>
              </a:rPr>
              <a:t>Memilih satu tetangga secara acak menggunakan operasi 2-opt pada setiap langkah pencarian.</a:t>
            </a:r>
          </a:p>
          <a:p>
            <a:pPr algn="l" marL="539749" indent="-269875" lvl="1">
              <a:lnSpc>
                <a:spcPts val="3499"/>
              </a:lnSpc>
              <a:buFont typeface="Arial"/>
              <a:buChar char="•"/>
            </a:pPr>
            <a:r>
              <a:rPr lang="en-US" sz="2499">
                <a:solidFill>
                  <a:srgbClr val="37284D"/>
                </a:solidFill>
                <a:latin typeface="Scope One"/>
                <a:ea typeface="Scope One"/>
                <a:cs typeface="Scope One"/>
                <a:sym typeface="Scope One"/>
              </a:rPr>
              <a:t>Menerima tetangga hanya jika menghasilkan total jarak yang lebih pendek; jika tidak, solusi saat ini dipertahankan.</a:t>
            </a:r>
          </a:p>
          <a:p>
            <a:pPr algn="l" marL="539749" indent="-269875" lvl="1">
              <a:lnSpc>
                <a:spcPts val="3499"/>
              </a:lnSpc>
              <a:buFont typeface="Arial"/>
              <a:buChar char="•"/>
            </a:pPr>
            <a:r>
              <a:rPr lang="en-US" sz="2499">
                <a:solidFill>
                  <a:srgbClr val="37284D"/>
                </a:solidFill>
                <a:latin typeface="Scope One"/>
                <a:ea typeface="Scope One"/>
                <a:cs typeface="Scope One"/>
                <a:sym typeface="Scope One"/>
              </a:rPr>
              <a:t>Melakukan random restart dengan rute awal baru jika tidak ada perbaikan selama 2.000 langkah berturut-turut.</a:t>
            </a:r>
          </a:p>
        </p:txBody>
      </p:sp>
      <p:sp>
        <p:nvSpPr>
          <p:cNvPr name="TextBox 8" id="8"/>
          <p:cNvSpPr txBox="true"/>
          <p:nvPr/>
        </p:nvSpPr>
        <p:spPr>
          <a:xfrm rot="0">
            <a:off x="4107119" y="1279050"/>
            <a:ext cx="10281310" cy="968211"/>
          </a:xfrm>
          <a:prstGeom prst="rect">
            <a:avLst/>
          </a:prstGeom>
        </p:spPr>
        <p:txBody>
          <a:bodyPr anchor="t" rtlCol="false" tIns="0" lIns="0" bIns="0" rIns="0">
            <a:spAutoFit/>
          </a:bodyPr>
          <a:lstStyle/>
          <a:p>
            <a:pPr algn="ctr">
              <a:lnSpc>
                <a:spcPts val="7952"/>
              </a:lnSpc>
            </a:pPr>
            <a:r>
              <a:rPr lang="en-US" sz="5680">
                <a:solidFill>
                  <a:srgbClr val="37284D"/>
                </a:solidFill>
                <a:latin typeface="Fredoka"/>
                <a:ea typeface="Fredoka"/>
                <a:cs typeface="Fredoka"/>
                <a:sym typeface="Fredoka"/>
              </a:rPr>
              <a:t>HILL CLIMBING</a:t>
            </a:r>
          </a:p>
        </p:txBody>
      </p:sp>
      <p:sp>
        <p:nvSpPr>
          <p:cNvPr name="TextBox 9" id="9"/>
          <p:cNvSpPr txBox="true"/>
          <p:nvPr/>
        </p:nvSpPr>
        <p:spPr>
          <a:xfrm rot="0">
            <a:off x="3899571" y="2782767"/>
            <a:ext cx="3773203" cy="412750"/>
          </a:xfrm>
          <a:prstGeom prst="rect">
            <a:avLst/>
          </a:prstGeom>
        </p:spPr>
        <p:txBody>
          <a:bodyPr anchor="t" rtlCol="false" tIns="0" lIns="0" bIns="0" rIns="0">
            <a:spAutoFit/>
          </a:bodyPr>
          <a:lstStyle/>
          <a:p>
            <a:pPr algn="l">
              <a:lnSpc>
                <a:spcPts val="3499"/>
              </a:lnSpc>
            </a:pPr>
            <a:r>
              <a:rPr lang="en-US" sz="2499">
                <a:solidFill>
                  <a:srgbClr val="37284D"/>
                </a:solidFill>
                <a:latin typeface="Scope One"/>
                <a:ea typeface="Scope One"/>
                <a:cs typeface="Scope One"/>
                <a:sym typeface="Scope One"/>
              </a:rPr>
              <a:t>Mekanisme Utama</a:t>
            </a:r>
          </a:p>
        </p:txBody>
      </p:sp>
      <p:sp>
        <p:nvSpPr>
          <p:cNvPr name="TextBox 10" id="10"/>
          <p:cNvSpPr txBox="true"/>
          <p:nvPr/>
        </p:nvSpPr>
        <p:spPr>
          <a:xfrm rot="0">
            <a:off x="3917588" y="6624390"/>
            <a:ext cx="3773203" cy="412750"/>
          </a:xfrm>
          <a:prstGeom prst="rect">
            <a:avLst/>
          </a:prstGeom>
        </p:spPr>
        <p:txBody>
          <a:bodyPr anchor="t" rtlCol="false" tIns="0" lIns="0" bIns="0" rIns="0">
            <a:spAutoFit/>
          </a:bodyPr>
          <a:lstStyle/>
          <a:p>
            <a:pPr algn="l">
              <a:lnSpc>
                <a:spcPts val="3499"/>
              </a:lnSpc>
            </a:pPr>
            <a:r>
              <a:rPr lang="en-US" sz="2499">
                <a:solidFill>
                  <a:srgbClr val="37284D"/>
                </a:solidFill>
                <a:latin typeface="Scope One"/>
                <a:ea typeface="Scope One"/>
                <a:cs typeface="Scope One"/>
                <a:sym typeface="Scope One"/>
              </a:rPr>
              <a:t>Parameter Eksperimen</a:t>
            </a:r>
          </a:p>
        </p:txBody>
      </p:sp>
      <p:sp>
        <p:nvSpPr>
          <p:cNvPr name="TextBox 11" id="11"/>
          <p:cNvSpPr txBox="true"/>
          <p:nvPr/>
        </p:nvSpPr>
        <p:spPr>
          <a:xfrm rot="0">
            <a:off x="3899571" y="7142624"/>
            <a:ext cx="6130191" cy="1289050"/>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37284D"/>
                </a:solidFill>
                <a:latin typeface="Scope One"/>
                <a:ea typeface="Scope One"/>
                <a:cs typeface="Scope One"/>
                <a:sym typeface="Scope One"/>
              </a:rPr>
              <a:t>Operator pencarian : 2-opt</a:t>
            </a:r>
          </a:p>
          <a:p>
            <a:pPr algn="l" marL="539749" indent="-269875" lvl="1">
              <a:lnSpc>
                <a:spcPts val="3499"/>
              </a:lnSpc>
              <a:buFont typeface="Arial"/>
              <a:buChar char="•"/>
            </a:pPr>
            <a:r>
              <a:rPr lang="en-US" sz="2499">
                <a:solidFill>
                  <a:srgbClr val="37284D"/>
                </a:solidFill>
                <a:latin typeface="Scope One"/>
                <a:ea typeface="Scope One"/>
                <a:cs typeface="Scope One"/>
                <a:sym typeface="Scope One"/>
              </a:rPr>
              <a:t>Batas tanpa perbaikan : 2000 langkah</a:t>
            </a:r>
          </a:p>
          <a:p>
            <a:pPr algn="l" marL="539749" indent="-269875" lvl="1">
              <a:lnSpc>
                <a:spcPts val="3499"/>
              </a:lnSpc>
              <a:buFont typeface="Arial"/>
              <a:buChar char="•"/>
            </a:pPr>
            <a:r>
              <a:rPr lang="en-US" sz="2499">
                <a:solidFill>
                  <a:srgbClr val="37284D"/>
                </a:solidFill>
                <a:latin typeface="Scope One"/>
                <a:ea typeface="Scope One"/>
                <a:cs typeface="Scope One"/>
                <a:sym typeface="Scope One"/>
              </a:rPr>
              <a:t>Anggaran Evaluasi : 50.000</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AF8FC"/>
        </a:solidFill>
      </p:bgPr>
    </p:bg>
    <p:spTree>
      <p:nvGrpSpPr>
        <p:cNvPr id="1" name=""/>
        <p:cNvGrpSpPr/>
        <p:nvPr/>
      </p:nvGrpSpPr>
      <p:grpSpPr>
        <a:xfrm>
          <a:off x="0" y="0"/>
          <a:ext cx="0" cy="0"/>
          <a:chOff x="0" y="0"/>
          <a:chExt cx="0" cy="0"/>
        </a:xfrm>
      </p:grpSpPr>
      <p:sp>
        <p:nvSpPr>
          <p:cNvPr name="Freeform 2" id="2"/>
          <p:cNvSpPr/>
          <p:nvPr/>
        </p:nvSpPr>
        <p:spPr>
          <a:xfrm flipH="true" flipV="true" rot="0">
            <a:off x="12710463" y="-258731"/>
            <a:ext cx="6258139" cy="4585509"/>
          </a:xfrm>
          <a:custGeom>
            <a:avLst/>
            <a:gdLst/>
            <a:ahLst/>
            <a:cxnLst/>
            <a:rect r="r" b="b" t="t" l="l"/>
            <a:pathLst>
              <a:path h="4585509" w="6258139">
                <a:moveTo>
                  <a:pt x="6258139" y="4585509"/>
                </a:moveTo>
                <a:lnTo>
                  <a:pt x="0" y="4585509"/>
                </a:lnTo>
                <a:lnTo>
                  <a:pt x="0" y="0"/>
                </a:lnTo>
                <a:lnTo>
                  <a:pt x="6258139" y="0"/>
                </a:lnTo>
                <a:lnTo>
                  <a:pt x="6258139" y="458550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9747073">
            <a:off x="-798611" y="6795649"/>
            <a:ext cx="4006919" cy="5323202"/>
          </a:xfrm>
          <a:custGeom>
            <a:avLst/>
            <a:gdLst/>
            <a:ahLst/>
            <a:cxnLst/>
            <a:rect r="r" b="b" t="t" l="l"/>
            <a:pathLst>
              <a:path h="5323202" w="4006919">
                <a:moveTo>
                  <a:pt x="0" y="0"/>
                </a:moveTo>
                <a:lnTo>
                  <a:pt x="4006919" y="0"/>
                </a:lnTo>
                <a:lnTo>
                  <a:pt x="4006919" y="5323202"/>
                </a:lnTo>
                <a:lnTo>
                  <a:pt x="0" y="53232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6679855" y="8359929"/>
            <a:ext cx="1141968" cy="654774"/>
          </a:xfrm>
          <a:custGeom>
            <a:avLst/>
            <a:gdLst/>
            <a:ahLst/>
            <a:cxnLst/>
            <a:rect r="r" b="b" t="t" l="l"/>
            <a:pathLst>
              <a:path h="654774" w="1141968">
                <a:moveTo>
                  <a:pt x="0" y="0"/>
                </a:moveTo>
                <a:lnTo>
                  <a:pt x="1141967" y="0"/>
                </a:lnTo>
                <a:lnTo>
                  <a:pt x="1141967" y="654774"/>
                </a:lnTo>
                <a:lnTo>
                  <a:pt x="0" y="654774"/>
                </a:lnTo>
                <a:lnTo>
                  <a:pt x="0" y="0"/>
                </a:lnTo>
                <a:close/>
              </a:path>
            </a:pathLst>
          </a:custGeom>
          <a:blipFill>
            <a:blip r:embed="rId6">
              <a:extLst>
                <a:ext uri="{96DAC541-7B7A-43D3-8B79-37D633B846F1}">
                  <asvg:svgBlip xmlns:asvg="http://schemas.microsoft.com/office/drawing/2016/SVG/main" r:embed="rId7"/>
                </a:ext>
              </a:extLst>
            </a:blip>
            <a:stretch>
              <a:fillRect l="0" t="-74406" r="0" b="0"/>
            </a:stretch>
          </a:blipFill>
        </p:spPr>
      </p:sp>
      <p:sp>
        <p:nvSpPr>
          <p:cNvPr name="Freeform 5" id="5"/>
          <p:cNvSpPr/>
          <p:nvPr/>
        </p:nvSpPr>
        <p:spPr>
          <a:xfrm flipH="false" flipV="false" rot="0">
            <a:off x="692851" y="1028700"/>
            <a:ext cx="671697" cy="2515292"/>
          </a:xfrm>
          <a:custGeom>
            <a:avLst/>
            <a:gdLst/>
            <a:ahLst/>
            <a:cxnLst/>
            <a:rect r="r" b="b" t="t" l="l"/>
            <a:pathLst>
              <a:path h="2515292" w="671697">
                <a:moveTo>
                  <a:pt x="0" y="0"/>
                </a:moveTo>
                <a:lnTo>
                  <a:pt x="671698" y="0"/>
                </a:lnTo>
                <a:lnTo>
                  <a:pt x="671698" y="2515292"/>
                </a:lnTo>
                <a:lnTo>
                  <a:pt x="0" y="25152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10800000">
            <a:off x="1610239" y="9133255"/>
            <a:ext cx="2642832" cy="1033107"/>
          </a:xfrm>
          <a:custGeom>
            <a:avLst/>
            <a:gdLst/>
            <a:ahLst/>
            <a:cxnLst/>
            <a:rect r="r" b="b" t="t" l="l"/>
            <a:pathLst>
              <a:path h="1033107" w="2642832">
                <a:moveTo>
                  <a:pt x="0" y="0"/>
                </a:moveTo>
                <a:lnTo>
                  <a:pt x="2642832" y="0"/>
                </a:lnTo>
                <a:lnTo>
                  <a:pt x="2642832" y="1033108"/>
                </a:lnTo>
                <a:lnTo>
                  <a:pt x="0" y="103310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3565939" y="3412321"/>
            <a:ext cx="9500464" cy="2603500"/>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37284D"/>
                </a:solidFill>
                <a:latin typeface="Scope One"/>
                <a:ea typeface="Scope One"/>
                <a:cs typeface="Scope One"/>
                <a:sym typeface="Scope One"/>
              </a:rPr>
              <a:t>Menghasilkan rute awal dan menentukan suhu awal.</a:t>
            </a:r>
          </a:p>
          <a:p>
            <a:pPr algn="l" marL="539749" indent="-269875" lvl="1">
              <a:lnSpc>
                <a:spcPts val="3499"/>
              </a:lnSpc>
              <a:buFont typeface="Arial"/>
              <a:buChar char="•"/>
            </a:pPr>
            <a:r>
              <a:rPr lang="en-US" sz="2499">
                <a:solidFill>
                  <a:srgbClr val="37284D"/>
                </a:solidFill>
                <a:latin typeface="Scope One"/>
                <a:ea typeface="Scope One"/>
                <a:cs typeface="Scope One"/>
                <a:sym typeface="Scope One"/>
              </a:rPr>
              <a:t>Menghasilkan rute tetangga menggunakan operasi 2-opt.</a:t>
            </a:r>
          </a:p>
          <a:p>
            <a:pPr algn="l" marL="539749" indent="-269875" lvl="1">
              <a:lnSpc>
                <a:spcPts val="3499"/>
              </a:lnSpc>
              <a:buFont typeface="Arial"/>
              <a:buChar char="•"/>
            </a:pPr>
            <a:r>
              <a:rPr lang="en-US" sz="2499">
                <a:solidFill>
                  <a:srgbClr val="37284D"/>
                </a:solidFill>
                <a:latin typeface="Scope One"/>
                <a:ea typeface="Scope One"/>
                <a:cs typeface="Scope One"/>
                <a:sym typeface="Scope One"/>
              </a:rPr>
              <a:t>Menerima solusi yang lebih baik; solusi yang lebih buruk dapat diterima dengan</a:t>
            </a:r>
          </a:p>
          <a:p>
            <a:pPr algn="l" marL="539749" indent="-269875" lvl="1">
              <a:lnSpc>
                <a:spcPts val="3499"/>
              </a:lnSpc>
              <a:buFont typeface="Arial"/>
              <a:buChar char="•"/>
            </a:pPr>
            <a:r>
              <a:rPr lang="en-US" sz="2499">
                <a:solidFill>
                  <a:srgbClr val="37284D"/>
                </a:solidFill>
                <a:latin typeface="Scope One"/>
                <a:ea typeface="Scope One"/>
                <a:cs typeface="Scope One"/>
                <a:sym typeface="Scope One"/>
              </a:rPr>
              <a:t>Menurunkan suhu secara bertahap hingga anggaran evaluasi habis.</a:t>
            </a:r>
          </a:p>
        </p:txBody>
      </p:sp>
      <p:sp>
        <p:nvSpPr>
          <p:cNvPr name="TextBox 8" id="8"/>
          <p:cNvSpPr txBox="true"/>
          <p:nvPr/>
        </p:nvSpPr>
        <p:spPr>
          <a:xfrm rot="0">
            <a:off x="4107119" y="1279050"/>
            <a:ext cx="10281310" cy="968211"/>
          </a:xfrm>
          <a:prstGeom prst="rect">
            <a:avLst/>
          </a:prstGeom>
        </p:spPr>
        <p:txBody>
          <a:bodyPr anchor="t" rtlCol="false" tIns="0" lIns="0" bIns="0" rIns="0">
            <a:spAutoFit/>
          </a:bodyPr>
          <a:lstStyle/>
          <a:p>
            <a:pPr algn="ctr">
              <a:lnSpc>
                <a:spcPts val="7952"/>
              </a:lnSpc>
            </a:pPr>
            <a:r>
              <a:rPr lang="en-US" sz="5680">
                <a:solidFill>
                  <a:srgbClr val="37284D"/>
                </a:solidFill>
                <a:latin typeface="Fredoka"/>
                <a:ea typeface="Fredoka"/>
                <a:cs typeface="Fredoka"/>
                <a:sym typeface="Fredoka"/>
              </a:rPr>
              <a:t>SIMULATED ANNEALING</a:t>
            </a:r>
          </a:p>
        </p:txBody>
      </p:sp>
      <p:sp>
        <p:nvSpPr>
          <p:cNvPr name="TextBox 9" id="9"/>
          <p:cNvSpPr txBox="true"/>
          <p:nvPr/>
        </p:nvSpPr>
        <p:spPr>
          <a:xfrm rot="0">
            <a:off x="3899571" y="2782767"/>
            <a:ext cx="3773203" cy="412750"/>
          </a:xfrm>
          <a:prstGeom prst="rect">
            <a:avLst/>
          </a:prstGeom>
        </p:spPr>
        <p:txBody>
          <a:bodyPr anchor="t" rtlCol="false" tIns="0" lIns="0" bIns="0" rIns="0">
            <a:spAutoFit/>
          </a:bodyPr>
          <a:lstStyle/>
          <a:p>
            <a:pPr algn="l">
              <a:lnSpc>
                <a:spcPts val="3499"/>
              </a:lnSpc>
            </a:pPr>
            <a:r>
              <a:rPr lang="en-US" sz="2499">
                <a:solidFill>
                  <a:srgbClr val="37284D"/>
                </a:solidFill>
                <a:latin typeface="Scope One"/>
                <a:ea typeface="Scope One"/>
                <a:cs typeface="Scope One"/>
                <a:sym typeface="Scope One"/>
              </a:rPr>
              <a:t>Mekanisme Utama</a:t>
            </a:r>
          </a:p>
        </p:txBody>
      </p:sp>
      <p:sp>
        <p:nvSpPr>
          <p:cNvPr name="TextBox 10" id="10"/>
          <p:cNvSpPr txBox="true"/>
          <p:nvPr/>
        </p:nvSpPr>
        <p:spPr>
          <a:xfrm rot="0">
            <a:off x="3899571" y="6689533"/>
            <a:ext cx="3773203" cy="412750"/>
          </a:xfrm>
          <a:prstGeom prst="rect">
            <a:avLst/>
          </a:prstGeom>
        </p:spPr>
        <p:txBody>
          <a:bodyPr anchor="t" rtlCol="false" tIns="0" lIns="0" bIns="0" rIns="0">
            <a:spAutoFit/>
          </a:bodyPr>
          <a:lstStyle/>
          <a:p>
            <a:pPr algn="l">
              <a:lnSpc>
                <a:spcPts val="3499"/>
              </a:lnSpc>
            </a:pPr>
            <a:r>
              <a:rPr lang="en-US" sz="2499">
                <a:solidFill>
                  <a:srgbClr val="37284D"/>
                </a:solidFill>
                <a:latin typeface="Scope One"/>
                <a:ea typeface="Scope One"/>
                <a:cs typeface="Scope One"/>
                <a:sym typeface="Scope One"/>
              </a:rPr>
              <a:t>Parameter Eksperimen</a:t>
            </a:r>
          </a:p>
        </p:txBody>
      </p:sp>
      <p:sp>
        <p:nvSpPr>
          <p:cNvPr name="TextBox 11" id="11"/>
          <p:cNvSpPr txBox="true"/>
          <p:nvPr/>
        </p:nvSpPr>
        <p:spPr>
          <a:xfrm rot="0">
            <a:off x="3899571" y="7175975"/>
            <a:ext cx="6130191" cy="1289050"/>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37284D"/>
                </a:solidFill>
                <a:latin typeface="Scope One"/>
                <a:ea typeface="Scope One"/>
                <a:cs typeface="Scope One"/>
                <a:sym typeface="Scope One"/>
              </a:rPr>
              <a:t>Operator pencarian : 2-opt</a:t>
            </a:r>
          </a:p>
          <a:p>
            <a:pPr algn="l" marL="539749" indent="-269875" lvl="1">
              <a:lnSpc>
                <a:spcPts val="3499"/>
              </a:lnSpc>
              <a:buFont typeface="Arial"/>
              <a:buChar char="•"/>
            </a:pPr>
            <a:r>
              <a:rPr lang="en-US" sz="2499">
                <a:solidFill>
                  <a:srgbClr val="37284D"/>
                </a:solidFill>
                <a:latin typeface="Scope One"/>
                <a:ea typeface="Scope One"/>
                <a:cs typeface="Scope One"/>
                <a:sym typeface="Scope One"/>
              </a:rPr>
              <a:t>Batas tanpa perbaikan : 2000 langkah</a:t>
            </a:r>
          </a:p>
          <a:p>
            <a:pPr algn="l" marL="539749" indent="-269875" lvl="1">
              <a:lnSpc>
                <a:spcPts val="3499"/>
              </a:lnSpc>
              <a:buFont typeface="Arial"/>
              <a:buChar char="•"/>
            </a:pPr>
            <a:r>
              <a:rPr lang="en-US" sz="2499">
                <a:solidFill>
                  <a:srgbClr val="37284D"/>
                </a:solidFill>
                <a:latin typeface="Scope One"/>
                <a:ea typeface="Scope One"/>
                <a:cs typeface="Scope One"/>
                <a:sym typeface="Scope One"/>
              </a:rPr>
              <a:t>Anggaran Evaluasi : 50.000</a:t>
            </a:r>
          </a:p>
        </p:txBody>
      </p:sp>
      <p:pic>
        <p:nvPicPr>
          <p:cNvPr name="Picture 12" id="12"/>
          <p:cNvPicPr>
            <a:picLocks noChangeAspect="true"/>
          </p:cNvPicPr>
          <p:nvPr/>
        </p:nvPicPr>
        <p:blipFill>
          <a:blip r:embed="rId12"/>
          <a:stretch>
            <a:fillRect/>
          </a:stretch>
        </p:blipFill>
        <p:spPr>
          <a:xfrm rot="0">
            <a:off x="7379959" y="4605513"/>
            <a:ext cx="1531298" cy="619811"/>
          </a:xfrm>
          <a:prstGeom prst="rect">
            <a:avLst/>
          </a:prstGeom>
        </p:spPr>
      </p:pic>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AF8FC"/>
        </a:solidFill>
      </p:bgPr>
    </p:bg>
    <p:spTree>
      <p:nvGrpSpPr>
        <p:cNvPr id="1" name=""/>
        <p:cNvGrpSpPr/>
        <p:nvPr/>
      </p:nvGrpSpPr>
      <p:grpSpPr>
        <a:xfrm>
          <a:off x="0" y="0"/>
          <a:ext cx="0" cy="0"/>
          <a:chOff x="0" y="0"/>
          <a:chExt cx="0" cy="0"/>
        </a:xfrm>
      </p:grpSpPr>
      <p:grpSp>
        <p:nvGrpSpPr>
          <p:cNvPr name="Group 2" id="2"/>
          <p:cNvGrpSpPr/>
          <p:nvPr/>
        </p:nvGrpSpPr>
        <p:grpSpPr>
          <a:xfrm rot="0">
            <a:off x="7380923" y="2410391"/>
            <a:ext cx="9985737" cy="5436114"/>
            <a:chOff x="0" y="0"/>
            <a:chExt cx="2629988" cy="1431734"/>
          </a:xfrm>
        </p:grpSpPr>
        <p:sp>
          <p:nvSpPr>
            <p:cNvPr name="Freeform 3" id="3"/>
            <p:cNvSpPr/>
            <p:nvPr/>
          </p:nvSpPr>
          <p:spPr>
            <a:xfrm flipH="false" flipV="false" rot="0">
              <a:off x="0" y="0"/>
              <a:ext cx="2629988" cy="1431734"/>
            </a:xfrm>
            <a:custGeom>
              <a:avLst/>
              <a:gdLst/>
              <a:ahLst/>
              <a:cxnLst/>
              <a:rect r="r" b="b" t="t" l="l"/>
              <a:pathLst>
                <a:path h="1431734" w="2629988">
                  <a:moveTo>
                    <a:pt x="0" y="0"/>
                  </a:moveTo>
                  <a:lnTo>
                    <a:pt x="2629988" y="0"/>
                  </a:lnTo>
                  <a:lnTo>
                    <a:pt x="2629988" y="1431734"/>
                  </a:lnTo>
                  <a:lnTo>
                    <a:pt x="0" y="1431734"/>
                  </a:lnTo>
                  <a:close/>
                </a:path>
              </a:pathLst>
            </a:custGeom>
            <a:solidFill>
              <a:srgbClr val="C8B9E8"/>
            </a:solidFill>
          </p:spPr>
        </p:sp>
        <p:sp>
          <p:nvSpPr>
            <p:cNvPr name="TextBox 4" id="4"/>
            <p:cNvSpPr txBox="true"/>
            <p:nvPr/>
          </p:nvSpPr>
          <p:spPr>
            <a:xfrm>
              <a:off x="0" y="-38100"/>
              <a:ext cx="2629988" cy="1469834"/>
            </a:xfrm>
            <a:prstGeom prst="rect">
              <a:avLst/>
            </a:prstGeom>
          </p:spPr>
          <p:txBody>
            <a:bodyPr anchor="ctr" rtlCol="false" tIns="50800" lIns="50800" bIns="50800" rIns="50800"/>
            <a:lstStyle/>
            <a:p>
              <a:pPr algn="ctr">
                <a:lnSpc>
                  <a:spcPts val="3499"/>
                </a:lnSpc>
              </a:pPr>
            </a:p>
          </p:txBody>
        </p:sp>
      </p:grpSp>
      <p:sp>
        <p:nvSpPr>
          <p:cNvPr name="Freeform 5" id="5"/>
          <p:cNvSpPr/>
          <p:nvPr/>
        </p:nvSpPr>
        <p:spPr>
          <a:xfrm flipH="false" flipV="false" rot="-7195827">
            <a:off x="15375752" y="7132587"/>
            <a:ext cx="4006919" cy="5323202"/>
          </a:xfrm>
          <a:custGeom>
            <a:avLst/>
            <a:gdLst/>
            <a:ahLst/>
            <a:cxnLst/>
            <a:rect r="r" b="b" t="t" l="l"/>
            <a:pathLst>
              <a:path h="5323202" w="4006919">
                <a:moveTo>
                  <a:pt x="0" y="0"/>
                </a:moveTo>
                <a:lnTo>
                  <a:pt x="4006920" y="0"/>
                </a:lnTo>
                <a:lnTo>
                  <a:pt x="4006920" y="5323202"/>
                </a:lnTo>
                <a:lnTo>
                  <a:pt x="0" y="53232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0312" y="-187032"/>
            <a:ext cx="6483934" cy="2923665"/>
          </a:xfrm>
          <a:custGeom>
            <a:avLst/>
            <a:gdLst/>
            <a:ahLst/>
            <a:cxnLst/>
            <a:rect r="r" b="b" t="t" l="l"/>
            <a:pathLst>
              <a:path h="2923665" w="6483934">
                <a:moveTo>
                  <a:pt x="6483934" y="2923665"/>
                </a:moveTo>
                <a:lnTo>
                  <a:pt x="0" y="2923665"/>
                </a:lnTo>
                <a:lnTo>
                  <a:pt x="0" y="0"/>
                </a:lnTo>
                <a:lnTo>
                  <a:pt x="6483934" y="0"/>
                </a:lnTo>
                <a:lnTo>
                  <a:pt x="6483934" y="292366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5400000">
            <a:off x="16688316" y="1272297"/>
            <a:ext cx="1141968" cy="654774"/>
          </a:xfrm>
          <a:custGeom>
            <a:avLst/>
            <a:gdLst/>
            <a:ahLst/>
            <a:cxnLst/>
            <a:rect r="r" b="b" t="t" l="l"/>
            <a:pathLst>
              <a:path h="654774" w="1141968">
                <a:moveTo>
                  <a:pt x="0" y="0"/>
                </a:moveTo>
                <a:lnTo>
                  <a:pt x="1141968" y="0"/>
                </a:lnTo>
                <a:lnTo>
                  <a:pt x="1141968" y="654774"/>
                </a:lnTo>
                <a:lnTo>
                  <a:pt x="0" y="654774"/>
                </a:lnTo>
                <a:lnTo>
                  <a:pt x="0" y="0"/>
                </a:lnTo>
                <a:close/>
              </a:path>
            </a:pathLst>
          </a:custGeom>
          <a:blipFill>
            <a:blip r:embed="rId6">
              <a:extLst>
                <a:ext uri="{96DAC541-7B7A-43D3-8B79-37D633B846F1}">
                  <asvg:svgBlip xmlns:asvg="http://schemas.microsoft.com/office/drawing/2016/SVG/main" r:embed="rId7"/>
                </a:ext>
              </a:extLst>
            </a:blip>
            <a:stretch>
              <a:fillRect l="0" t="-74406" r="0" b="0"/>
            </a:stretch>
          </a:blipFill>
        </p:spPr>
      </p:sp>
      <p:sp>
        <p:nvSpPr>
          <p:cNvPr name="Freeform 8" id="8"/>
          <p:cNvSpPr/>
          <p:nvPr/>
        </p:nvSpPr>
        <p:spPr>
          <a:xfrm flipH="false" flipV="false" rot="0">
            <a:off x="684390" y="6743008"/>
            <a:ext cx="671697" cy="2515292"/>
          </a:xfrm>
          <a:custGeom>
            <a:avLst/>
            <a:gdLst/>
            <a:ahLst/>
            <a:cxnLst/>
            <a:rect r="r" b="b" t="t" l="l"/>
            <a:pathLst>
              <a:path h="2515292" w="671697">
                <a:moveTo>
                  <a:pt x="0" y="0"/>
                </a:moveTo>
                <a:lnTo>
                  <a:pt x="671697" y="0"/>
                </a:lnTo>
                <a:lnTo>
                  <a:pt x="671697" y="2515292"/>
                </a:lnTo>
                <a:lnTo>
                  <a:pt x="0" y="25152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10800000">
            <a:off x="14072961" y="8741746"/>
            <a:ext cx="2642832" cy="1033107"/>
          </a:xfrm>
          <a:custGeom>
            <a:avLst/>
            <a:gdLst/>
            <a:ahLst/>
            <a:cxnLst/>
            <a:rect r="r" b="b" t="t" l="l"/>
            <a:pathLst>
              <a:path h="1033107" w="2642832">
                <a:moveTo>
                  <a:pt x="0" y="0"/>
                </a:moveTo>
                <a:lnTo>
                  <a:pt x="2642833" y="0"/>
                </a:lnTo>
                <a:lnTo>
                  <a:pt x="2642833" y="1033108"/>
                </a:lnTo>
                <a:lnTo>
                  <a:pt x="0" y="103310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1714326" y="1868512"/>
            <a:ext cx="5054930" cy="6549976"/>
          </a:xfrm>
          <a:custGeom>
            <a:avLst/>
            <a:gdLst/>
            <a:ahLst/>
            <a:cxnLst/>
            <a:rect r="r" b="b" t="t" l="l"/>
            <a:pathLst>
              <a:path h="6549976" w="5054930">
                <a:moveTo>
                  <a:pt x="0" y="0"/>
                </a:moveTo>
                <a:lnTo>
                  <a:pt x="5054930" y="0"/>
                </a:lnTo>
                <a:lnTo>
                  <a:pt x="5054930" y="6549976"/>
                </a:lnTo>
                <a:lnTo>
                  <a:pt x="0" y="6549976"/>
                </a:lnTo>
                <a:lnTo>
                  <a:pt x="0" y="0"/>
                </a:lnTo>
                <a:close/>
              </a:path>
            </a:pathLst>
          </a:custGeom>
          <a:blipFill>
            <a:blip r:embed="rId12"/>
            <a:stretch>
              <a:fillRect l="0" t="0" r="0" b="0"/>
            </a:stretch>
          </a:blipFill>
        </p:spPr>
      </p:sp>
      <p:sp>
        <p:nvSpPr>
          <p:cNvPr name="Freeform 11" id="11"/>
          <p:cNvSpPr/>
          <p:nvPr/>
        </p:nvSpPr>
        <p:spPr>
          <a:xfrm flipH="false" flipV="false" rot="6000">
            <a:off x="7685977" y="3570534"/>
            <a:ext cx="9375628" cy="2526853"/>
          </a:xfrm>
          <a:custGeom>
            <a:avLst/>
            <a:gdLst/>
            <a:ahLst/>
            <a:cxnLst/>
            <a:rect r="r" b="b" t="t" l="l"/>
            <a:pathLst>
              <a:path h="2526853" w="9375628">
                <a:moveTo>
                  <a:pt x="0" y="16355"/>
                </a:moveTo>
                <a:lnTo>
                  <a:pt x="9371247" y="0"/>
                </a:lnTo>
                <a:lnTo>
                  <a:pt x="9375628" y="2510497"/>
                </a:lnTo>
                <a:lnTo>
                  <a:pt x="4382" y="2526853"/>
                </a:lnTo>
                <a:lnTo>
                  <a:pt x="0" y="16355"/>
                </a:lnTo>
                <a:close/>
              </a:path>
            </a:pathLst>
          </a:custGeom>
          <a:blipFill>
            <a:blip r:embed="rId13"/>
            <a:stretch>
              <a:fillRect l="-388" t="-57" r="-274" b="0"/>
            </a:stretch>
          </a:blipFill>
        </p:spPr>
      </p:sp>
      <p:sp>
        <p:nvSpPr>
          <p:cNvPr name="TextBox 12" id="12"/>
          <p:cNvSpPr txBox="true"/>
          <p:nvPr/>
        </p:nvSpPr>
        <p:spPr>
          <a:xfrm rot="0">
            <a:off x="3291897" y="562013"/>
            <a:ext cx="11704206" cy="953135"/>
          </a:xfrm>
          <a:prstGeom prst="rect">
            <a:avLst/>
          </a:prstGeom>
        </p:spPr>
        <p:txBody>
          <a:bodyPr anchor="t" rtlCol="false" tIns="0" lIns="0" bIns="0" rIns="0">
            <a:spAutoFit/>
          </a:bodyPr>
          <a:lstStyle/>
          <a:p>
            <a:pPr algn="ctr">
              <a:lnSpc>
                <a:spcPts val="7840"/>
              </a:lnSpc>
            </a:pPr>
            <a:r>
              <a:rPr lang="en-US" sz="5600">
                <a:solidFill>
                  <a:srgbClr val="37284D"/>
                </a:solidFill>
                <a:latin typeface="Fredoka"/>
                <a:ea typeface="Fredoka"/>
                <a:cs typeface="Fredoka"/>
                <a:sym typeface="Fredoka"/>
              </a:rPr>
              <a:t>DATA ANALYSIS</a:t>
            </a:r>
          </a:p>
        </p:txBody>
      </p:sp>
      <p:sp>
        <p:nvSpPr>
          <p:cNvPr name="TextBox 13" id="13"/>
          <p:cNvSpPr txBox="true"/>
          <p:nvPr/>
        </p:nvSpPr>
        <p:spPr>
          <a:xfrm rot="0">
            <a:off x="1714326" y="8732813"/>
            <a:ext cx="11947670" cy="1289050"/>
          </a:xfrm>
          <a:prstGeom prst="rect">
            <a:avLst/>
          </a:prstGeom>
        </p:spPr>
        <p:txBody>
          <a:bodyPr anchor="t" rtlCol="false" tIns="0" lIns="0" bIns="0" rIns="0">
            <a:spAutoFit/>
          </a:bodyPr>
          <a:lstStyle/>
          <a:p>
            <a:pPr algn="l">
              <a:lnSpc>
                <a:spcPts val="3499"/>
              </a:lnSpc>
            </a:pPr>
            <a:r>
              <a:rPr lang="en-US" sz="2499">
                <a:solidFill>
                  <a:srgbClr val="37284D"/>
                </a:solidFill>
                <a:latin typeface="Scope One"/>
                <a:ea typeface="Scope One"/>
                <a:cs typeface="Scope One"/>
                <a:sym typeface="Scope One"/>
              </a:rPr>
              <a:t>ACO mencapai rata-rata terbaik pada eil51, berlin52, dan kroA100. Pada st70, HC-2opt sedikit lebih baik. Kedua variasi GA menempati dua posisi terbawah pada keempat instans. Panjang rute dihitung dari 5 run per sel.</a:t>
            </a:r>
          </a:p>
        </p:txBody>
      </p:sp>
      <p:sp>
        <p:nvSpPr>
          <p:cNvPr name="TextBox 14" id="14"/>
          <p:cNvSpPr txBox="true"/>
          <p:nvPr/>
        </p:nvSpPr>
        <p:spPr>
          <a:xfrm rot="0">
            <a:off x="7878300" y="2769891"/>
            <a:ext cx="9124740" cy="662480"/>
          </a:xfrm>
          <a:prstGeom prst="rect">
            <a:avLst/>
          </a:prstGeom>
        </p:spPr>
        <p:txBody>
          <a:bodyPr anchor="t" rtlCol="false" tIns="0" lIns="0" bIns="0" rIns="0">
            <a:spAutoFit/>
          </a:bodyPr>
          <a:lstStyle/>
          <a:p>
            <a:pPr algn="ctr">
              <a:lnSpc>
                <a:spcPts val="2688"/>
              </a:lnSpc>
            </a:pPr>
            <a:r>
              <a:rPr lang="en-US" sz="1920">
                <a:solidFill>
                  <a:srgbClr val="37284D"/>
                </a:solidFill>
                <a:latin typeface="Scope One"/>
                <a:ea typeface="Scope One"/>
                <a:cs typeface="Scope One"/>
                <a:sym typeface="Scope One"/>
              </a:rPr>
              <a:t>Gap = (hasil − optimum)/optimum × 100%. Angka tebal menandai rata-rata terbaik per instan</a:t>
            </a:r>
          </a:p>
        </p:txBody>
      </p:sp>
      <p:sp>
        <p:nvSpPr>
          <p:cNvPr name="TextBox 15" id="15"/>
          <p:cNvSpPr txBox="true"/>
          <p:nvPr/>
        </p:nvSpPr>
        <p:spPr>
          <a:xfrm rot="0">
            <a:off x="7878300" y="6786424"/>
            <a:ext cx="9124740" cy="662480"/>
          </a:xfrm>
          <a:prstGeom prst="rect">
            <a:avLst/>
          </a:prstGeom>
        </p:spPr>
        <p:txBody>
          <a:bodyPr anchor="t" rtlCol="false" tIns="0" lIns="0" bIns="0" rIns="0">
            <a:spAutoFit/>
          </a:bodyPr>
          <a:lstStyle/>
          <a:p>
            <a:pPr algn="ctr">
              <a:lnSpc>
                <a:spcPts val="2688"/>
              </a:lnSpc>
            </a:pPr>
            <a:r>
              <a:rPr lang="en-US" sz="1920">
                <a:solidFill>
                  <a:srgbClr val="37284D"/>
                </a:solidFill>
                <a:latin typeface="Scope One"/>
                <a:ea typeface="Scope One"/>
                <a:cs typeface="Scope One"/>
                <a:sym typeface="Scope One"/>
              </a:rPr>
              <a:t>Sebaran gap per run (Gambar 1) menunjukkan ACO bukan hanya baik rata-ratanya tetapi juga paling stabil: simpangan bakunya terkecil di keempat instans.</a:t>
            </a:r>
          </a:p>
        </p:txBody>
      </p:sp>
      <p:sp>
        <p:nvSpPr>
          <p:cNvPr name="TextBox 16" id="16"/>
          <p:cNvSpPr txBox="true"/>
          <p:nvPr/>
        </p:nvSpPr>
        <p:spPr>
          <a:xfrm rot="0">
            <a:off x="7878300" y="6349453"/>
            <a:ext cx="9124740" cy="325900"/>
          </a:xfrm>
          <a:prstGeom prst="rect">
            <a:avLst/>
          </a:prstGeom>
        </p:spPr>
        <p:txBody>
          <a:bodyPr anchor="t" rtlCol="false" tIns="0" lIns="0" bIns="0" rIns="0">
            <a:spAutoFit/>
          </a:bodyPr>
          <a:lstStyle/>
          <a:p>
            <a:pPr algn="ctr">
              <a:lnSpc>
                <a:spcPts val="2688"/>
              </a:lnSpc>
            </a:pPr>
            <a:r>
              <a:rPr lang="en-US" sz="1920">
                <a:solidFill>
                  <a:srgbClr val="37284D"/>
                </a:solidFill>
                <a:latin typeface="Scope One"/>
                <a:ea typeface="Scope One"/>
                <a:cs typeface="Scope One"/>
                <a:sym typeface="Scope One"/>
              </a:rPr>
              <a:t>Gambar 1. Sebaran gap terhadap optimum dari 5 run per algoritma.</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AF8FC"/>
        </a:solidFill>
      </p:bgPr>
    </p:bg>
    <p:spTree>
      <p:nvGrpSpPr>
        <p:cNvPr id="1" name=""/>
        <p:cNvGrpSpPr/>
        <p:nvPr/>
      </p:nvGrpSpPr>
      <p:grpSpPr>
        <a:xfrm>
          <a:off x="0" y="0"/>
          <a:ext cx="0" cy="0"/>
          <a:chOff x="0" y="0"/>
          <a:chExt cx="0" cy="0"/>
        </a:xfrm>
      </p:grpSpPr>
      <p:sp>
        <p:nvSpPr>
          <p:cNvPr name="Freeform 2" id="2"/>
          <p:cNvSpPr/>
          <p:nvPr/>
        </p:nvSpPr>
        <p:spPr>
          <a:xfrm flipH="true" flipV="true" rot="0">
            <a:off x="12408898" y="-439669"/>
            <a:ext cx="6258139" cy="4585509"/>
          </a:xfrm>
          <a:custGeom>
            <a:avLst/>
            <a:gdLst/>
            <a:ahLst/>
            <a:cxnLst/>
            <a:rect r="r" b="b" t="t" l="l"/>
            <a:pathLst>
              <a:path h="4585509" w="6258139">
                <a:moveTo>
                  <a:pt x="6258139" y="4585509"/>
                </a:moveTo>
                <a:lnTo>
                  <a:pt x="0" y="4585509"/>
                </a:lnTo>
                <a:lnTo>
                  <a:pt x="0" y="0"/>
                </a:lnTo>
                <a:lnTo>
                  <a:pt x="6258139" y="0"/>
                </a:lnTo>
                <a:lnTo>
                  <a:pt x="6258139" y="458550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9747073">
            <a:off x="-798611" y="6795649"/>
            <a:ext cx="4006919" cy="5323202"/>
          </a:xfrm>
          <a:custGeom>
            <a:avLst/>
            <a:gdLst/>
            <a:ahLst/>
            <a:cxnLst/>
            <a:rect r="r" b="b" t="t" l="l"/>
            <a:pathLst>
              <a:path h="5323202" w="4006919">
                <a:moveTo>
                  <a:pt x="0" y="0"/>
                </a:moveTo>
                <a:lnTo>
                  <a:pt x="4006919" y="0"/>
                </a:lnTo>
                <a:lnTo>
                  <a:pt x="4006919" y="5323202"/>
                </a:lnTo>
                <a:lnTo>
                  <a:pt x="0" y="53232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457716" y="1272297"/>
            <a:ext cx="1141968" cy="654774"/>
          </a:xfrm>
          <a:custGeom>
            <a:avLst/>
            <a:gdLst/>
            <a:ahLst/>
            <a:cxnLst/>
            <a:rect r="r" b="b" t="t" l="l"/>
            <a:pathLst>
              <a:path h="654774" w="1141968">
                <a:moveTo>
                  <a:pt x="0" y="0"/>
                </a:moveTo>
                <a:lnTo>
                  <a:pt x="1141968" y="0"/>
                </a:lnTo>
                <a:lnTo>
                  <a:pt x="1141968" y="654774"/>
                </a:lnTo>
                <a:lnTo>
                  <a:pt x="0" y="654774"/>
                </a:lnTo>
                <a:lnTo>
                  <a:pt x="0" y="0"/>
                </a:lnTo>
                <a:close/>
              </a:path>
            </a:pathLst>
          </a:custGeom>
          <a:blipFill>
            <a:blip r:embed="rId6">
              <a:extLst>
                <a:ext uri="{96DAC541-7B7A-43D3-8B79-37D633B846F1}">
                  <asvg:svgBlip xmlns:asvg="http://schemas.microsoft.com/office/drawing/2016/SVG/main" r:embed="rId7"/>
                </a:ext>
              </a:extLst>
            </a:blip>
            <a:stretch>
              <a:fillRect l="0" t="-74406" r="0" b="0"/>
            </a:stretch>
          </a:blipFill>
        </p:spPr>
      </p:sp>
      <p:sp>
        <p:nvSpPr>
          <p:cNvPr name="Freeform 5" id="5"/>
          <p:cNvSpPr/>
          <p:nvPr/>
        </p:nvSpPr>
        <p:spPr>
          <a:xfrm flipH="false" flipV="false" rot="0">
            <a:off x="16923451" y="6743008"/>
            <a:ext cx="671697" cy="2515292"/>
          </a:xfrm>
          <a:custGeom>
            <a:avLst/>
            <a:gdLst/>
            <a:ahLst/>
            <a:cxnLst/>
            <a:rect r="r" b="b" t="t" l="l"/>
            <a:pathLst>
              <a:path h="2515292" w="671697">
                <a:moveTo>
                  <a:pt x="0" y="0"/>
                </a:moveTo>
                <a:lnTo>
                  <a:pt x="671698" y="0"/>
                </a:lnTo>
                <a:lnTo>
                  <a:pt x="671698" y="2515292"/>
                </a:lnTo>
                <a:lnTo>
                  <a:pt x="0" y="25152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5404097" y="2170668"/>
            <a:ext cx="7479806" cy="5502121"/>
          </a:xfrm>
          <a:custGeom>
            <a:avLst/>
            <a:gdLst/>
            <a:ahLst/>
            <a:cxnLst/>
            <a:rect r="r" b="b" t="t" l="l"/>
            <a:pathLst>
              <a:path h="5502121" w="7479806">
                <a:moveTo>
                  <a:pt x="0" y="0"/>
                </a:moveTo>
                <a:lnTo>
                  <a:pt x="7479806" y="0"/>
                </a:lnTo>
                <a:lnTo>
                  <a:pt x="7479806" y="5502121"/>
                </a:lnTo>
                <a:lnTo>
                  <a:pt x="0" y="5502121"/>
                </a:lnTo>
                <a:lnTo>
                  <a:pt x="0" y="0"/>
                </a:lnTo>
                <a:close/>
              </a:path>
            </a:pathLst>
          </a:custGeom>
          <a:blipFill>
            <a:blip r:embed="rId10"/>
            <a:stretch>
              <a:fillRect l="0" t="0" r="0" b="0"/>
            </a:stretch>
          </a:blipFill>
        </p:spPr>
      </p:sp>
      <p:sp>
        <p:nvSpPr>
          <p:cNvPr name="TextBox 7" id="7"/>
          <p:cNvSpPr txBox="true"/>
          <p:nvPr/>
        </p:nvSpPr>
        <p:spPr>
          <a:xfrm rot="0">
            <a:off x="3291897" y="886897"/>
            <a:ext cx="11704206" cy="953135"/>
          </a:xfrm>
          <a:prstGeom prst="rect">
            <a:avLst/>
          </a:prstGeom>
        </p:spPr>
        <p:txBody>
          <a:bodyPr anchor="t" rtlCol="false" tIns="0" lIns="0" bIns="0" rIns="0">
            <a:spAutoFit/>
          </a:bodyPr>
          <a:lstStyle/>
          <a:p>
            <a:pPr algn="ctr">
              <a:lnSpc>
                <a:spcPts val="7840"/>
              </a:lnSpc>
            </a:pPr>
            <a:r>
              <a:rPr lang="en-US" sz="5600">
                <a:solidFill>
                  <a:srgbClr val="37284D"/>
                </a:solidFill>
                <a:latin typeface="Fredoka"/>
                <a:ea typeface="Fredoka"/>
                <a:cs typeface="Fredoka"/>
                <a:sym typeface="Fredoka"/>
              </a:rPr>
              <a:t>KURVA KONVERGENSI</a:t>
            </a:r>
          </a:p>
        </p:txBody>
      </p:sp>
      <p:sp>
        <p:nvSpPr>
          <p:cNvPr name="TextBox 8" id="8"/>
          <p:cNvSpPr txBox="true"/>
          <p:nvPr/>
        </p:nvSpPr>
        <p:spPr>
          <a:xfrm rot="0">
            <a:off x="3291897" y="7962554"/>
            <a:ext cx="11704206" cy="2165350"/>
          </a:xfrm>
          <a:prstGeom prst="rect">
            <a:avLst/>
          </a:prstGeom>
        </p:spPr>
        <p:txBody>
          <a:bodyPr anchor="t" rtlCol="false" tIns="0" lIns="0" bIns="0" rIns="0">
            <a:spAutoFit/>
          </a:bodyPr>
          <a:lstStyle/>
          <a:p>
            <a:pPr algn="ctr">
              <a:lnSpc>
                <a:spcPts val="3499"/>
              </a:lnSpc>
            </a:pPr>
            <a:r>
              <a:rPr lang="en-US" sz="2499">
                <a:solidFill>
                  <a:srgbClr val="37284D"/>
                </a:solidFill>
                <a:latin typeface="Scope One"/>
                <a:ea typeface="Scope One"/>
                <a:cs typeface="Scope One"/>
                <a:sym typeface="Scope One"/>
              </a:rPr>
              <a:t>ACO sudah mencapai gap di bawah 15% sejak 500 evaluasi pertama dan hampir mendatar setelah ±10.000 evaluasi. GA turun paling lambat dan pada st70 serta kroA100 kurvanya masih menurun saat anggaran habis. SA awalnya lambat karena suhu tinggi membuatnya menerima banyak langkah buruk, lalu menyusul cepat saat suhu turun.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AF8FC"/>
        </a:solidFill>
      </p:bgPr>
    </p:bg>
    <p:spTree>
      <p:nvGrpSpPr>
        <p:cNvPr id="1" name=""/>
        <p:cNvGrpSpPr/>
        <p:nvPr/>
      </p:nvGrpSpPr>
      <p:grpSpPr>
        <a:xfrm>
          <a:off x="0" y="0"/>
          <a:ext cx="0" cy="0"/>
          <a:chOff x="0" y="0"/>
          <a:chExt cx="0" cy="0"/>
        </a:xfrm>
      </p:grpSpPr>
      <p:sp>
        <p:nvSpPr>
          <p:cNvPr name="Freeform 2" id="2"/>
          <p:cNvSpPr/>
          <p:nvPr/>
        </p:nvSpPr>
        <p:spPr>
          <a:xfrm flipH="false" flipV="false" rot="5762591">
            <a:off x="15179872" y="7353850"/>
            <a:ext cx="4767824" cy="4820410"/>
          </a:xfrm>
          <a:custGeom>
            <a:avLst/>
            <a:gdLst/>
            <a:ahLst/>
            <a:cxnLst/>
            <a:rect r="r" b="b" t="t" l="l"/>
            <a:pathLst>
              <a:path h="4820410" w="4767824">
                <a:moveTo>
                  <a:pt x="0" y="0"/>
                </a:moveTo>
                <a:lnTo>
                  <a:pt x="4767824" y="0"/>
                </a:lnTo>
                <a:lnTo>
                  <a:pt x="4767824" y="4820410"/>
                </a:lnTo>
                <a:lnTo>
                  <a:pt x="0" y="48204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204296" y="-295691"/>
            <a:ext cx="6483934" cy="2923665"/>
          </a:xfrm>
          <a:custGeom>
            <a:avLst/>
            <a:gdLst/>
            <a:ahLst/>
            <a:cxnLst/>
            <a:rect r="r" b="b" t="t" l="l"/>
            <a:pathLst>
              <a:path h="2923665" w="6483934">
                <a:moveTo>
                  <a:pt x="6483934" y="2923665"/>
                </a:moveTo>
                <a:lnTo>
                  <a:pt x="0" y="2923665"/>
                </a:lnTo>
                <a:lnTo>
                  <a:pt x="0" y="0"/>
                </a:lnTo>
                <a:lnTo>
                  <a:pt x="6483934" y="0"/>
                </a:lnTo>
                <a:lnTo>
                  <a:pt x="6483934" y="292366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6688316" y="2691628"/>
            <a:ext cx="1141968" cy="654774"/>
          </a:xfrm>
          <a:custGeom>
            <a:avLst/>
            <a:gdLst/>
            <a:ahLst/>
            <a:cxnLst/>
            <a:rect r="r" b="b" t="t" l="l"/>
            <a:pathLst>
              <a:path h="654774" w="1141968">
                <a:moveTo>
                  <a:pt x="0" y="0"/>
                </a:moveTo>
                <a:lnTo>
                  <a:pt x="1141968" y="0"/>
                </a:lnTo>
                <a:lnTo>
                  <a:pt x="1141968" y="654774"/>
                </a:lnTo>
                <a:lnTo>
                  <a:pt x="0" y="654774"/>
                </a:lnTo>
                <a:lnTo>
                  <a:pt x="0" y="0"/>
                </a:lnTo>
                <a:close/>
              </a:path>
            </a:pathLst>
          </a:custGeom>
          <a:blipFill>
            <a:blip r:embed="rId6">
              <a:extLst>
                <a:ext uri="{96DAC541-7B7A-43D3-8B79-37D633B846F1}">
                  <asvg:svgBlip xmlns:asvg="http://schemas.microsoft.com/office/drawing/2016/SVG/main" r:embed="rId7"/>
                </a:ext>
              </a:extLst>
            </a:blip>
            <a:stretch>
              <a:fillRect l="0" t="-74406" r="0" b="0"/>
            </a:stretch>
          </a:blipFill>
        </p:spPr>
      </p:sp>
      <p:sp>
        <p:nvSpPr>
          <p:cNvPr name="Freeform 5" id="5"/>
          <p:cNvSpPr/>
          <p:nvPr/>
        </p:nvSpPr>
        <p:spPr>
          <a:xfrm flipH="false" flipV="false" rot="0">
            <a:off x="692851" y="5143500"/>
            <a:ext cx="671697" cy="2515292"/>
          </a:xfrm>
          <a:custGeom>
            <a:avLst/>
            <a:gdLst/>
            <a:ahLst/>
            <a:cxnLst/>
            <a:rect r="r" b="b" t="t" l="l"/>
            <a:pathLst>
              <a:path h="2515292" w="671697">
                <a:moveTo>
                  <a:pt x="0" y="0"/>
                </a:moveTo>
                <a:lnTo>
                  <a:pt x="671698" y="0"/>
                </a:lnTo>
                <a:lnTo>
                  <a:pt x="671698" y="2515292"/>
                </a:lnTo>
                <a:lnTo>
                  <a:pt x="0" y="25152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3807359" y="2856574"/>
            <a:ext cx="10339507" cy="2879194"/>
          </a:xfrm>
          <a:custGeom>
            <a:avLst/>
            <a:gdLst/>
            <a:ahLst/>
            <a:cxnLst/>
            <a:rect r="r" b="b" t="t" l="l"/>
            <a:pathLst>
              <a:path h="2879194" w="10339507">
                <a:moveTo>
                  <a:pt x="0" y="0"/>
                </a:moveTo>
                <a:lnTo>
                  <a:pt x="10339507" y="0"/>
                </a:lnTo>
                <a:lnTo>
                  <a:pt x="10339507" y="2879194"/>
                </a:lnTo>
                <a:lnTo>
                  <a:pt x="0" y="2879194"/>
                </a:lnTo>
                <a:lnTo>
                  <a:pt x="0" y="0"/>
                </a:lnTo>
                <a:close/>
              </a:path>
            </a:pathLst>
          </a:custGeom>
          <a:blipFill>
            <a:blip r:embed="rId10"/>
            <a:stretch>
              <a:fillRect l="0" t="0" r="0" b="0"/>
            </a:stretch>
          </a:blipFill>
        </p:spPr>
      </p:sp>
      <p:sp>
        <p:nvSpPr>
          <p:cNvPr name="TextBox 7" id="7"/>
          <p:cNvSpPr txBox="true"/>
          <p:nvPr/>
        </p:nvSpPr>
        <p:spPr>
          <a:xfrm rot="0">
            <a:off x="3291897" y="637186"/>
            <a:ext cx="11704206" cy="953135"/>
          </a:xfrm>
          <a:prstGeom prst="rect">
            <a:avLst/>
          </a:prstGeom>
        </p:spPr>
        <p:txBody>
          <a:bodyPr anchor="t" rtlCol="false" tIns="0" lIns="0" bIns="0" rIns="0">
            <a:spAutoFit/>
          </a:bodyPr>
          <a:lstStyle/>
          <a:p>
            <a:pPr algn="ctr">
              <a:lnSpc>
                <a:spcPts val="7840"/>
              </a:lnSpc>
            </a:pPr>
            <a:r>
              <a:rPr lang="en-US" sz="5600">
                <a:solidFill>
                  <a:srgbClr val="37284D"/>
                </a:solidFill>
                <a:latin typeface="Fredoka"/>
                <a:ea typeface="Fredoka"/>
                <a:cs typeface="Fredoka"/>
                <a:sym typeface="Fredoka"/>
              </a:rPr>
              <a:t>UJI SIGNIFIKANSI</a:t>
            </a:r>
          </a:p>
        </p:txBody>
      </p:sp>
      <p:sp>
        <p:nvSpPr>
          <p:cNvPr name="TextBox 8" id="8"/>
          <p:cNvSpPr txBox="true"/>
          <p:nvPr/>
        </p:nvSpPr>
        <p:spPr>
          <a:xfrm rot="0">
            <a:off x="2088081" y="1777074"/>
            <a:ext cx="14111839" cy="850900"/>
          </a:xfrm>
          <a:prstGeom prst="rect">
            <a:avLst/>
          </a:prstGeom>
        </p:spPr>
        <p:txBody>
          <a:bodyPr anchor="t" rtlCol="false" tIns="0" lIns="0" bIns="0" rIns="0">
            <a:spAutoFit/>
          </a:bodyPr>
          <a:lstStyle/>
          <a:p>
            <a:pPr algn="ctr">
              <a:lnSpc>
                <a:spcPts val="3499"/>
              </a:lnSpc>
            </a:pPr>
            <a:r>
              <a:rPr lang="en-US" sz="2499">
                <a:solidFill>
                  <a:srgbClr val="37284D"/>
                </a:solidFill>
                <a:latin typeface="Scope One"/>
                <a:ea typeface="Scope One"/>
                <a:cs typeface="Scope One"/>
                <a:sym typeface="Scope One"/>
              </a:rPr>
              <a:t>Keunggulan algoritma terbaik hanya signifikan pada berlin52. Pada tiga instans lain, perbedaan dua algoritma teratas belum bisa dibedakan dari variasi acak dengan 5 run</a:t>
            </a:r>
          </a:p>
        </p:txBody>
      </p:sp>
      <p:sp>
        <p:nvSpPr>
          <p:cNvPr name="TextBox 9" id="9"/>
          <p:cNvSpPr txBox="true"/>
          <p:nvPr/>
        </p:nvSpPr>
        <p:spPr>
          <a:xfrm rot="0">
            <a:off x="3037671" y="5859593"/>
            <a:ext cx="11704206" cy="953135"/>
          </a:xfrm>
          <a:prstGeom prst="rect">
            <a:avLst/>
          </a:prstGeom>
        </p:spPr>
        <p:txBody>
          <a:bodyPr anchor="t" rtlCol="false" tIns="0" lIns="0" bIns="0" rIns="0">
            <a:spAutoFit/>
          </a:bodyPr>
          <a:lstStyle/>
          <a:p>
            <a:pPr algn="ctr">
              <a:lnSpc>
                <a:spcPts val="7840"/>
              </a:lnSpc>
            </a:pPr>
            <a:r>
              <a:rPr lang="en-US" sz="5600">
                <a:solidFill>
                  <a:srgbClr val="37284D"/>
                </a:solidFill>
                <a:latin typeface="Fredoka"/>
                <a:ea typeface="Fredoka"/>
                <a:cs typeface="Fredoka"/>
                <a:sym typeface="Fredoka"/>
              </a:rPr>
              <a:t>CONTOH SOLUSI</a:t>
            </a:r>
          </a:p>
        </p:txBody>
      </p:sp>
      <p:sp>
        <p:nvSpPr>
          <p:cNvPr name="Freeform 10" id="10"/>
          <p:cNvSpPr/>
          <p:nvPr/>
        </p:nvSpPr>
        <p:spPr>
          <a:xfrm flipH="false" flipV="false" rot="0">
            <a:off x="4078012" y="6927028"/>
            <a:ext cx="10131976" cy="2131322"/>
          </a:xfrm>
          <a:custGeom>
            <a:avLst/>
            <a:gdLst/>
            <a:ahLst/>
            <a:cxnLst/>
            <a:rect r="r" b="b" t="t" l="l"/>
            <a:pathLst>
              <a:path h="2131322" w="10131976">
                <a:moveTo>
                  <a:pt x="0" y="0"/>
                </a:moveTo>
                <a:lnTo>
                  <a:pt x="10131976" y="0"/>
                </a:lnTo>
                <a:lnTo>
                  <a:pt x="10131976" y="2131322"/>
                </a:lnTo>
                <a:lnTo>
                  <a:pt x="0" y="2131322"/>
                </a:lnTo>
                <a:lnTo>
                  <a:pt x="0" y="0"/>
                </a:lnTo>
                <a:close/>
              </a:path>
            </a:pathLst>
          </a:custGeom>
          <a:blipFill>
            <a:blip r:embed="rId11"/>
            <a:stretch>
              <a:fillRect l="0" t="0" r="0" b="0"/>
            </a:stretch>
          </a:blipFill>
        </p:spPr>
      </p:sp>
      <p:sp>
        <p:nvSpPr>
          <p:cNvPr name="TextBox 11" id="11"/>
          <p:cNvSpPr txBox="true"/>
          <p:nvPr/>
        </p:nvSpPr>
        <p:spPr>
          <a:xfrm rot="0">
            <a:off x="1982426" y="9134550"/>
            <a:ext cx="15276874" cy="850900"/>
          </a:xfrm>
          <a:prstGeom prst="rect">
            <a:avLst/>
          </a:prstGeom>
        </p:spPr>
        <p:txBody>
          <a:bodyPr anchor="t" rtlCol="false" tIns="0" lIns="0" bIns="0" rIns="0">
            <a:spAutoFit/>
          </a:bodyPr>
          <a:lstStyle/>
          <a:p>
            <a:pPr algn="ctr">
              <a:lnSpc>
                <a:spcPts val="3499"/>
              </a:lnSpc>
            </a:pPr>
            <a:r>
              <a:rPr lang="en-US" sz="2499">
                <a:solidFill>
                  <a:srgbClr val="37284D"/>
                </a:solidFill>
                <a:latin typeface="Scope One"/>
                <a:ea typeface="Scope One"/>
                <a:cs typeface="Scope One"/>
                <a:sym typeface="Scope One"/>
              </a:rPr>
              <a:t>Rute terbaik dari 5 run tiap algoritma pada berlin52. Bentuk umum semua rute mirip; perbedaannya ada pada urutan lokal, misalnya di klaster padat di tengah. Rute ACO hanya 0,3% di atas optimum.</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AF8FC"/>
        </a:solidFill>
      </p:bgPr>
    </p:bg>
    <p:spTree>
      <p:nvGrpSpPr>
        <p:cNvPr id="1" name=""/>
        <p:cNvGrpSpPr/>
        <p:nvPr/>
      </p:nvGrpSpPr>
      <p:grpSpPr>
        <a:xfrm>
          <a:off x="0" y="0"/>
          <a:ext cx="0" cy="0"/>
          <a:chOff x="0" y="0"/>
          <a:chExt cx="0" cy="0"/>
        </a:xfrm>
      </p:grpSpPr>
      <p:sp>
        <p:nvSpPr>
          <p:cNvPr name="Freeform 2" id="2"/>
          <p:cNvSpPr/>
          <p:nvPr/>
        </p:nvSpPr>
        <p:spPr>
          <a:xfrm flipH="false" flipV="false" rot="5762591">
            <a:off x="15179872" y="7353850"/>
            <a:ext cx="4767824" cy="4820410"/>
          </a:xfrm>
          <a:custGeom>
            <a:avLst/>
            <a:gdLst/>
            <a:ahLst/>
            <a:cxnLst/>
            <a:rect r="r" b="b" t="t" l="l"/>
            <a:pathLst>
              <a:path h="4820410" w="4767824">
                <a:moveTo>
                  <a:pt x="0" y="0"/>
                </a:moveTo>
                <a:lnTo>
                  <a:pt x="4767824" y="0"/>
                </a:lnTo>
                <a:lnTo>
                  <a:pt x="4767824" y="4820410"/>
                </a:lnTo>
                <a:lnTo>
                  <a:pt x="0" y="48204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204296" y="-295691"/>
            <a:ext cx="6483934" cy="2923665"/>
          </a:xfrm>
          <a:custGeom>
            <a:avLst/>
            <a:gdLst/>
            <a:ahLst/>
            <a:cxnLst/>
            <a:rect r="r" b="b" t="t" l="l"/>
            <a:pathLst>
              <a:path h="2923665" w="6483934">
                <a:moveTo>
                  <a:pt x="6483934" y="2923665"/>
                </a:moveTo>
                <a:lnTo>
                  <a:pt x="0" y="2923665"/>
                </a:lnTo>
                <a:lnTo>
                  <a:pt x="0" y="0"/>
                </a:lnTo>
                <a:lnTo>
                  <a:pt x="6483934" y="0"/>
                </a:lnTo>
                <a:lnTo>
                  <a:pt x="6483934" y="292366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6688316" y="2691628"/>
            <a:ext cx="1141968" cy="654774"/>
          </a:xfrm>
          <a:custGeom>
            <a:avLst/>
            <a:gdLst/>
            <a:ahLst/>
            <a:cxnLst/>
            <a:rect r="r" b="b" t="t" l="l"/>
            <a:pathLst>
              <a:path h="654774" w="1141968">
                <a:moveTo>
                  <a:pt x="0" y="0"/>
                </a:moveTo>
                <a:lnTo>
                  <a:pt x="1141968" y="0"/>
                </a:lnTo>
                <a:lnTo>
                  <a:pt x="1141968" y="654774"/>
                </a:lnTo>
                <a:lnTo>
                  <a:pt x="0" y="654774"/>
                </a:lnTo>
                <a:lnTo>
                  <a:pt x="0" y="0"/>
                </a:lnTo>
                <a:close/>
              </a:path>
            </a:pathLst>
          </a:custGeom>
          <a:blipFill>
            <a:blip r:embed="rId6">
              <a:extLst>
                <a:ext uri="{96DAC541-7B7A-43D3-8B79-37D633B846F1}">
                  <asvg:svgBlip xmlns:asvg="http://schemas.microsoft.com/office/drawing/2016/SVG/main" r:embed="rId7"/>
                </a:ext>
              </a:extLst>
            </a:blip>
            <a:stretch>
              <a:fillRect l="0" t="-74406" r="0" b="0"/>
            </a:stretch>
          </a:blipFill>
        </p:spPr>
      </p:sp>
      <p:sp>
        <p:nvSpPr>
          <p:cNvPr name="Freeform 5" id="5"/>
          <p:cNvSpPr/>
          <p:nvPr/>
        </p:nvSpPr>
        <p:spPr>
          <a:xfrm flipH="false" flipV="false" rot="0">
            <a:off x="692851" y="5143500"/>
            <a:ext cx="671697" cy="2515292"/>
          </a:xfrm>
          <a:custGeom>
            <a:avLst/>
            <a:gdLst/>
            <a:ahLst/>
            <a:cxnLst/>
            <a:rect r="r" b="b" t="t" l="l"/>
            <a:pathLst>
              <a:path h="2515292" w="671697">
                <a:moveTo>
                  <a:pt x="0" y="0"/>
                </a:moveTo>
                <a:lnTo>
                  <a:pt x="671698" y="0"/>
                </a:lnTo>
                <a:lnTo>
                  <a:pt x="671698" y="2515292"/>
                </a:lnTo>
                <a:lnTo>
                  <a:pt x="0" y="25152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10800000">
            <a:off x="14146866" y="8730948"/>
            <a:ext cx="2642832" cy="1033107"/>
          </a:xfrm>
          <a:custGeom>
            <a:avLst/>
            <a:gdLst/>
            <a:ahLst/>
            <a:cxnLst/>
            <a:rect r="r" b="b" t="t" l="l"/>
            <a:pathLst>
              <a:path h="1033107" w="2642832">
                <a:moveTo>
                  <a:pt x="0" y="0"/>
                </a:moveTo>
                <a:lnTo>
                  <a:pt x="2642832" y="0"/>
                </a:lnTo>
                <a:lnTo>
                  <a:pt x="2642832" y="1033107"/>
                </a:lnTo>
                <a:lnTo>
                  <a:pt x="0" y="103310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3291897" y="4035531"/>
            <a:ext cx="11591282" cy="4451817"/>
          </a:xfrm>
          <a:custGeom>
            <a:avLst/>
            <a:gdLst/>
            <a:ahLst/>
            <a:cxnLst/>
            <a:rect r="r" b="b" t="t" l="l"/>
            <a:pathLst>
              <a:path h="4451817" w="11591282">
                <a:moveTo>
                  <a:pt x="0" y="0"/>
                </a:moveTo>
                <a:lnTo>
                  <a:pt x="11591282" y="0"/>
                </a:lnTo>
                <a:lnTo>
                  <a:pt x="11591282" y="4451817"/>
                </a:lnTo>
                <a:lnTo>
                  <a:pt x="0" y="4451817"/>
                </a:lnTo>
                <a:lnTo>
                  <a:pt x="0" y="0"/>
                </a:lnTo>
                <a:close/>
              </a:path>
            </a:pathLst>
          </a:custGeom>
          <a:blipFill>
            <a:blip r:embed="rId12"/>
            <a:stretch>
              <a:fillRect l="-686" t="0" r="0" b="-5545"/>
            </a:stretch>
          </a:blipFill>
        </p:spPr>
      </p:sp>
      <p:sp>
        <p:nvSpPr>
          <p:cNvPr name="TextBox 8" id="8"/>
          <p:cNvSpPr txBox="true"/>
          <p:nvPr/>
        </p:nvSpPr>
        <p:spPr>
          <a:xfrm rot="0">
            <a:off x="3291897" y="1247246"/>
            <a:ext cx="11704206" cy="953135"/>
          </a:xfrm>
          <a:prstGeom prst="rect">
            <a:avLst/>
          </a:prstGeom>
        </p:spPr>
        <p:txBody>
          <a:bodyPr anchor="t" rtlCol="false" tIns="0" lIns="0" bIns="0" rIns="0">
            <a:spAutoFit/>
          </a:bodyPr>
          <a:lstStyle/>
          <a:p>
            <a:pPr algn="ctr">
              <a:lnSpc>
                <a:spcPts val="7840"/>
              </a:lnSpc>
            </a:pPr>
            <a:r>
              <a:rPr lang="en-US" sz="5600">
                <a:solidFill>
                  <a:srgbClr val="37284D"/>
                </a:solidFill>
                <a:latin typeface="Fredoka"/>
                <a:ea typeface="Fredoka"/>
                <a:cs typeface="Fredoka"/>
                <a:sym typeface="Fredoka"/>
              </a:rPr>
              <a:t>SENSITIVITAS PARAMETER</a:t>
            </a:r>
          </a:p>
        </p:txBody>
      </p:sp>
      <p:sp>
        <p:nvSpPr>
          <p:cNvPr name="TextBox 9" id="9"/>
          <p:cNvSpPr txBox="true"/>
          <p:nvPr/>
        </p:nvSpPr>
        <p:spPr>
          <a:xfrm rot="0">
            <a:off x="1248154" y="2409931"/>
            <a:ext cx="15791692" cy="1289050"/>
          </a:xfrm>
          <a:prstGeom prst="rect">
            <a:avLst/>
          </a:prstGeom>
        </p:spPr>
        <p:txBody>
          <a:bodyPr anchor="t" rtlCol="false" tIns="0" lIns="0" bIns="0" rIns="0">
            <a:spAutoFit/>
          </a:bodyPr>
          <a:lstStyle/>
          <a:p>
            <a:pPr algn="ctr">
              <a:lnSpc>
                <a:spcPts val="3499"/>
              </a:lnSpc>
            </a:pPr>
            <a:r>
              <a:rPr lang="en-US" sz="2499">
                <a:solidFill>
                  <a:srgbClr val="37284D"/>
                </a:solidFill>
                <a:latin typeface="Scope One"/>
                <a:ea typeface="Scope One"/>
                <a:cs typeface="Scope One"/>
                <a:sym typeface="Scope One"/>
              </a:rPr>
              <a:t>Laju mutasi adalah parameter GA yang paling berpengaruh. Menaikkan pm dari 0,05 ke 1,0 memperburuk gap rata-rata dari 8,48% menjadi 37,90%. Pada ACO, β = 2 memberi hasil terbaik (gap rata-rata 0,26%, satu run mencapai optimum 7542), sedangkan β = 1 jauh lebih buruk (5,56%). Hasil β = 3 dan β = 5 sama, yaitu 1,29%.</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AF8FC"/>
        </a:solidFill>
      </p:bgPr>
    </p:bg>
    <p:spTree>
      <p:nvGrpSpPr>
        <p:cNvPr id="1" name=""/>
        <p:cNvGrpSpPr/>
        <p:nvPr/>
      </p:nvGrpSpPr>
      <p:grpSpPr>
        <a:xfrm>
          <a:off x="0" y="0"/>
          <a:ext cx="0" cy="0"/>
          <a:chOff x="0" y="0"/>
          <a:chExt cx="0" cy="0"/>
        </a:xfrm>
      </p:grpSpPr>
      <p:sp>
        <p:nvSpPr>
          <p:cNvPr name="Freeform 2" id="2"/>
          <p:cNvSpPr/>
          <p:nvPr/>
        </p:nvSpPr>
        <p:spPr>
          <a:xfrm flipH="true" flipV="true" rot="0">
            <a:off x="12546766" y="-298939"/>
            <a:ext cx="6258139" cy="4585509"/>
          </a:xfrm>
          <a:custGeom>
            <a:avLst/>
            <a:gdLst/>
            <a:ahLst/>
            <a:cxnLst/>
            <a:rect r="r" b="b" t="t" l="l"/>
            <a:pathLst>
              <a:path h="4585509" w="6258139">
                <a:moveTo>
                  <a:pt x="6258139" y="4585509"/>
                </a:moveTo>
                <a:lnTo>
                  <a:pt x="0" y="4585509"/>
                </a:lnTo>
                <a:lnTo>
                  <a:pt x="0" y="0"/>
                </a:lnTo>
                <a:lnTo>
                  <a:pt x="6258139" y="0"/>
                </a:lnTo>
                <a:lnTo>
                  <a:pt x="6258139" y="458550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9747073">
            <a:off x="-798611" y="6795649"/>
            <a:ext cx="4006919" cy="5323202"/>
          </a:xfrm>
          <a:custGeom>
            <a:avLst/>
            <a:gdLst/>
            <a:ahLst/>
            <a:cxnLst/>
            <a:rect r="r" b="b" t="t" l="l"/>
            <a:pathLst>
              <a:path h="5323202" w="4006919">
                <a:moveTo>
                  <a:pt x="0" y="0"/>
                </a:moveTo>
                <a:lnTo>
                  <a:pt x="4006919" y="0"/>
                </a:lnTo>
                <a:lnTo>
                  <a:pt x="4006919" y="5323202"/>
                </a:lnTo>
                <a:lnTo>
                  <a:pt x="0" y="53232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6688316" y="8359929"/>
            <a:ext cx="1141968" cy="654774"/>
          </a:xfrm>
          <a:custGeom>
            <a:avLst/>
            <a:gdLst/>
            <a:ahLst/>
            <a:cxnLst/>
            <a:rect r="r" b="b" t="t" l="l"/>
            <a:pathLst>
              <a:path h="654774" w="1141968">
                <a:moveTo>
                  <a:pt x="0" y="0"/>
                </a:moveTo>
                <a:lnTo>
                  <a:pt x="1141968" y="0"/>
                </a:lnTo>
                <a:lnTo>
                  <a:pt x="1141968" y="654774"/>
                </a:lnTo>
                <a:lnTo>
                  <a:pt x="0" y="654774"/>
                </a:lnTo>
                <a:lnTo>
                  <a:pt x="0" y="0"/>
                </a:lnTo>
                <a:close/>
              </a:path>
            </a:pathLst>
          </a:custGeom>
          <a:blipFill>
            <a:blip r:embed="rId6">
              <a:extLst>
                <a:ext uri="{96DAC541-7B7A-43D3-8B79-37D633B846F1}">
                  <asvg:svgBlip xmlns:asvg="http://schemas.microsoft.com/office/drawing/2016/SVG/main" r:embed="rId7"/>
                </a:ext>
              </a:extLst>
            </a:blip>
            <a:stretch>
              <a:fillRect l="0" t="-74406" r="0" b="0"/>
            </a:stretch>
          </a:blipFill>
        </p:spPr>
      </p:sp>
      <p:sp>
        <p:nvSpPr>
          <p:cNvPr name="Freeform 5" id="5"/>
          <p:cNvSpPr/>
          <p:nvPr/>
        </p:nvSpPr>
        <p:spPr>
          <a:xfrm flipH="false" flipV="false" rot="0">
            <a:off x="684390" y="1028700"/>
            <a:ext cx="671697" cy="2515292"/>
          </a:xfrm>
          <a:custGeom>
            <a:avLst/>
            <a:gdLst/>
            <a:ahLst/>
            <a:cxnLst/>
            <a:rect r="r" b="b" t="t" l="l"/>
            <a:pathLst>
              <a:path h="2515292" w="671697">
                <a:moveTo>
                  <a:pt x="0" y="0"/>
                </a:moveTo>
                <a:lnTo>
                  <a:pt x="671697" y="0"/>
                </a:lnTo>
                <a:lnTo>
                  <a:pt x="671697" y="2515292"/>
                </a:lnTo>
                <a:lnTo>
                  <a:pt x="0" y="25152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3291897" y="499745"/>
            <a:ext cx="11704206" cy="953135"/>
          </a:xfrm>
          <a:prstGeom prst="rect">
            <a:avLst/>
          </a:prstGeom>
        </p:spPr>
        <p:txBody>
          <a:bodyPr anchor="t" rtlCol="false" tIns="0" lIns="0" bIns="0" rIns="0">
            <a:spAutoFit/>
          </a:bodyPr>
          <a:lstStyle/>
          <a:p>
            <a:pPr algn="ctr">
              <a:lnSpc>
                <a:spcPts val="7840"/>
              </a:lnSpc>
            </a:pPr>
            <a:r>
              <a:rPr lang="en-US" sz="5600">
                <a:solidFill>
                  <a:srgbClr val="37284D"/>
                </a:solidFill>
                <a:latin typeface="Fredoka"/>
                <a:ea typeface="Fredoka"/>
                <a:cs typeface="Fredoka"/>
                <a:sym typeface="Fredoka"/>
              </a:rPr>
              <a:t>KETERBATASAN</a:t>
            </a:r>
          </a:p>
        </p:txBody>
      </p:sp>
      <p:sp>
        <p:nvSpPr>
          <p:cNvPr name="TextBox 7" id="7"/>
          <p:cNvSpPr txBox="true"/>
          <p:nvPr/>
        </p:nvSpPr>
        <p:spPr>
          <a:xfrm rot="0">
            <a:off x="2559486" y="1564232"/>
            <a:ext cx="13199744" cy="3917950"/>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37284D"/>
                </a:solidFill>
                <a:latin typeface="Scope One"/>
                <a:ea typeface="Scope One"/>
                <a:cs typeface="Scope One"/>
                <a:sym typeface="Scope One"/>
              </a:rPr>
              <a:t>Hanya 5 run per konfigurasi, sehingga daya uji statistik rendah. Tiga dari empat perbandingan belum signifikan.</a:t>
            </a:r>
          </a:p>
          <a:p>
            <a:pPr algn="l" marL="539749" indent="-269875" lvl="1">
              <a:lnSpc>
                <a:spcPts val="3499"/>
              </a:lnSpc>
              <a:buFont typeface="Arial"/>
              <a:buChar char="•"/>
            </a:pPr>
            <a:r>
              <a:rPr lang="en-US" sz="2499">
                <a:solidFill>
                  <a:srgbClr val="37284D"/>
                </a:solidFill>
                <a:latin typeface="Scope One"/>
                <a:ea typeface="Scope One"/>
                <a:cs typeface="Scope One"/>
                <a:sym typeface="Scope One"/>
              </a:rPr>
              <a:t>Penyetelan parameter hanya dilakukan pada satu instans (berlin52) dan satu parameter per algoritma. Parameter terbaik dari analisis sensitivitas belum dipakai ulang di eksperimen utama.</a:t>
            </a:r>
          </a:p>
          <a:p>
            <a:pPr algn="l" marL="539749" indent="-269875" lvl="1">
              <a:lnSpc>
                <a:spcPts val="3499"/>
              </a:lnSpc>
              <a:buFont typeface="Arial"/>
              <a:buChar char="•"/>
            </a:pPr>
            <a:r>
              <a:rPr lang="en-US" sz="2499">
                <a:solidFill>
                  <a:srgbClr val="37284D"/>
                </a:solidFill>
                <a:latin typeface="Scope One"/>
                <a:ea typeface="Scope One"/>
                <a:cs typeface="Scope One"/>
                <a:sym typeface="Scope One"/>
              </a:rPr>
              <a:t>Kesetaraan dihitung dari jumlah evaluasi, bukan waktu. Satu evaluasi 2-opt (delta 4 sisi) jauh lebih murah daripada membangun satu rute semut, sehingga dari sisi waktu perbandingannya menguntungkan ACO.</a:t>
            </a:r>
          </a:p>
          <a:p>
            <a:pPr algn="l" marL="539749" indent="-269875" lvl="1">
              <a:lnSpc>
                <a:spcPts val="3499"/>
              </a:lnSpc>
              <a:buFont typeface="Arial"/>
              <a:buChar char="•"/>
            </a:pPr>
            <a:r>
              <a:rPr lang="en-US" sz="2499">
                <a:solidFill>
                  <a:srgbClr val="37284D"/>
                </a:solidFill>
                <a:latin typeface="Scope One"/>
                <a:ea typeface="Scope One"/>
                <a:cs typeface="Scope One"/>
                <a:sym typeface="Scope One"/>
              </a:rPr>
              <a:t>Instans terbesar hanya 100 kota.</a:t>
            </a:r>
          </a:p>
        </p:txBody>
      </p:sp>
      <p:sp>
        <p:nvSpPr>
          <p:cNvPr name="TextBox 8" id="8"/>
          <p:cNvSpPr txBox="true"/>
          <p:nvPr/>
        </p:nvSpPr>
        <p:spPr>
          <a:xfrm rot="0">
            <a:off x="3291897" y="5520282"/>
            <a:ext cx="11704206" cy="953135"/>
          </a:xfrm>
          <a:prstGeom prst="rect">
            <a:avLst/>
          </a:prstGeom>
        </p:spPr>
        <p:txBody>
          <a:bodyPr anchor="t" rtlCol="false" tIns="0" lIns="0" bIns="0" rIns="0">
            <a:spAutoFit/>
          </a:bodyPr>
          <a:lstStyle/>
          <a:p>
            <a:pPr algn="ctr">
              <a:lnSpc>
                <a:spcPts val="7840"/>
              </a:lnSpc>
            </a:pPr>
            <a:r>
              <a:rPr lang="en-US" sz="5600">
                <a:solidFill>
                  <a:srgbClr val="37284D"/>
                </a:solidFill>
                <a:latin typeface="Fredoka"/>
                <a:ea typeface="Fredoka"/>
                <a:cs typeface="Fredoka"/>
                <a:sym typeface="Fredoka"/>
              </a:rPr>
              <a:t>KESIMPULAN</a:t>
            </a:r>
          </a:p>
        </p:txBody>
      </p:sp>
      <p:sp>
        <p:nvSpPr>
          <p:cNvPr name="TextBox 9" id="9"/>
          <p:cNvSpPr txBox="true"/>
          <p:nvPr/>
        </p:nvSpPr>
        <p:spPr>
          <a:xfrm rot="0">
            <a:off x="2559486" y="6576457"/>
            <a:ext cx="13169028" cy="3041650"/>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37284D"/>
                </a:solidFill>
                <a:latin typeface="Scope One"/>
                <a:ea typeface="Scope One"/>
                <a:cs typeface="Scope One"/>
                <a:sym typeface="Scope One"/>
              </a:rPr>
              <a:t>Dengan anggaran yang sama (50.000 evaluasi), ACO adalah algoritma terbaik untuk TSP pada 3 dari 4 instans. Gap rata-ratanya 1,29–6,46% dan simpangan bakunya paling kecil. Keunggulan atas pesaing terdekat signifikan pada berlin52 (p = 0,009).</a:t>
            </a:r>
          </a:p>
          <a:p>
            <a:pPr algn="l" marL="539749" indent="-269875" lvl="1">
              <a:lnSpc>
                <a:spcPts val="3499"/>
              </a:lnSpc>
              <a:buFont typeface="Arial"/>
              <a:buChar char="•"/>
            </a:pPr>
            <a:r>
              <a:rPr lang="en-US" sz="2499">
                <a:solidFill>
                  <a:srgbClr val="37284D"/>
                </a:solidFill>
                <a:latin typeface="Scope One"/>
                <a:ea typeface="Scope One"/>
                <a:cs typeface="Scope One"/>
                <a:sym typeface="Scope One"/>
              </a:rPr>
              <a:t>GA murni paling lemah dan kinerjanya memburuk tajam seiring ukuran instans (gap ±38% pada kroA100), karena operatornya tidak memakai informasi jarak dan belum konvergen dalam anggaran yang diberikan. Di antara dua variasi GA, OX lebih baik daripada PMX pada 3 dari 4 instans.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DAHYW-tFgO8</dc:identifier>
  <dcterms:modified xsi:type="dcterms:W3CDTF">2011-08-01T06:04:30Z</dcterms:modified>
  <cp:revision>1</cp:revision>
  <dc:title>Presentasi Fundamental AI</dc:title>
</cp:coreProperties>
</file>